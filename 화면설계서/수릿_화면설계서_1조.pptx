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명세서 기준으로 10개 화면의 와이어프레임을 정리한 문서입니다. Figma 작업 시 이 구성을 그대로 옮기면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헤더, 푸터, 버튼, 입력창, 상태 배지, 진행단계 인디케이터는 Figma 컴포넌트로 먼저 만들고 각 화면에 인스턴스로 배치합니다.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메인은 서비스 흐름을 이해시키는 것이 목적입니다. 기능 카드와 이용 방법 4단계가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아이디 중복확인이 fetch를 쓰는 첫 기능이라 개발 초반에 비동기 통신 구조를 잡는 기준이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사진 업로드가 이 화면의 핵심입니다. multipart 처리와 파일명 변경 로직을 함께 설계해야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상태 배지 색상 규칙이 여기서 처음 드러납니다. 목록 조회는 Controller 매핑으로 처리합니다.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화면이 수릿의 차별점을 가장 잘 보여주는 화면입니다. 상태에 따라 노출 영역이 달라지는 점을 발표에서 강조하면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기사 조회는 관리자 배정 화면에서도 같은 조회 로직을 재사용합니다.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관리자만 접근 가능한 화면이므로 인터셉터 또는 세션 검사로 권한을 막아야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상태를 건너뛰지 못하게 UI에서 먼저 막고, 서버에서도 현재 상태를 검증해야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가지 사용 흐름이 있습니다. 관리자 흐름은 로그인 시 권한 분기로 갈라집니다.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914400"/>
            <a:ext cx="2926080" cy="2926080"/>
          </a:xfrm>
          <a:prstGeom prst="ellipse">
            <a:avLst/>
          </a:prstGeom>
          <a:solidFill>
            <a:srgbClr val="27374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002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화면설계서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58368" y="2468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3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수릿 Surit  ·  출장 수리 접수 및 진행 관리 플랫폼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76656" y="3017520"/>
            <a:ext cx="1005840" cy="0"/>
          </a:xfrm>
          <a:prstGeom prst="line">
            <a:avLst/>
          </a:prstGeom>
          <a:noFill/>
          <a:ln w="25400">
            <a:solidFill>
              <a:srgbClr val="E872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200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1조  ·  Desktop 1440 × 1024 기준  ·  2026. 8.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713232" cy="329184"/>
          </a:xfrm>
          <a:prstGeom prst="roundRect">
            <a:avLst>
              <a:gd name="adj" fmla="val 16667"/>
            </a:avLst>
          </a:prstGeom>
          <a:solidFill>
            <a:srgbClr val="E8722C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310896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25296" y="292608"/>
            <a:ext cx="7516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레이아웃 및 컴포넌트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1024128"/>
            <a:ext cx="5440680" cy="3703320"/>
          </a:xfrm>
          <a:prstGeom prst="roundRect">
            <a:avLst>
              <a:gd name="adj" fmla="val 988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024128"/>
            <a:ext cx="5440680" cy="201168"/>
          </a:xfrm>
          <a:prstGeom prst="rect">
            <a:avLst/>
          </a:prstGeom>
          <a:solidFill>
            <a:srgbClr val="E7EDF3"/>
          </a:solidFill>
          <a:ln w="6350">
            <a:solidFill>
              <a:srgbClr val="E7ED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" y="1088136"/>
            <a:ext cx="73152" cy="73152"/>
          </a:xfrm>
          <a:prstGeom prst="ellipse">
            <a:avLst/>
          </a:prstGeom>
          <a:solidFill>
            <a:srgbClr val="C2CCD6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1088136"/>
            <a:ext cx="73152" cy="73152"/>
          </a:xfrm>
          <a:prstGeom prst="ellipse">
            <a:avLst/>
          </a:prstGeom>
          <a:solidFill>
            <a:srgbClr val="C2CCD6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088136"/>
            <a:ext cx="73152" cy="73152"/>
          </a:xfrm>
          <a:prstGeom prst="ellipse">
            <a:avLst/>
          </a:prstGeom>
          <a:solidFill>
            <a:srgbClr val="C2CCD6"/>
          </a:solidFill>
          <a:ln/>
        </p:spPr>
      </p:sp>
      <p:sp>
        <p:nvSpPr>
          <p:cNvPr id="10" name="Shape 8"/>
          <p:cNvSpPr/>
          <p:nvPr/>
        </p:nvSpPr>
        <p:spPr>
          <a:xfrm>
            <a:off x="676656" y="1316736"/>
            <a:ext cx="4855464" cy="274320"/>
          </a:xfrm>
          <a:prstGeom prst="roundRect">
            <a:avLst>
              <a:gd name="adj" fmla="val 13333"/>
            </a:avLst>
          </a:prstGeom>
          <a:solidFill>
            <a:srgbClr val="27374D"/>
          </a:solidFill>
          <a:ln w="6350">
            <a:solidFill>
              <a:srgbClr val="2737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13167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수릿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35608" y="13167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3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수리 접수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304288" y="13167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3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내역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172968" y="13167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3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수리기사 조회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407408" y="13167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3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· 회원가입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76656" y="1682496"/>
            <a:ext cx="4855464" cy="310896"/>
          </a:xfrm>
          <a:prstGeom prst="rect">
            <a:avLst/>
          </a:prstGeom>
          <a:solidFill>
            <a:srgbClr val="F7F9FB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16824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 제목 영역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76656" y="2084832"/>
            <a:ext cx="4855464" cy="1737360"/>
          </a:xfrm>
          <a:prstGeom prst="rect">
            <a:avLst/>
          </a:prstGeom>
          <a:solidFill>
            <a:srgbClr val="F7F9FB"/>
          </a:solidFill>
          <a:ln w="12700">
            <a:solidFill>
              <a:srgbClr val="C8D2DC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76656" y="2084832"/>
            <a:ext cx="48554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 콘텐츠  ·  최대 폭 1200 중앙 정렬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76656" y="3950208"/>
            <a:ext cx="4855464" cy="384048"/>
          </a:xfrm>
          <a:prstGeom prst="rect">
            <a:avLst/>
          </a:prstGeom>
          <a:solidFill>
            <a:srgbClr val="27374D"/>
          </a:solidFill>
          <a:ln w="6350">
            <a:solidFill>
              <a:srgbClr val="2737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3950208"/>
            <a:ext cx="4855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7C3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1조  ·  수릿(Surit)  ·  팀원 GitHub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37160" y="1353312"/>
            <a:ext cx="201168" cy="201168"/>
          </a:xfrm>
          <a:prstGeom prst="ellipse">
            <a:avLst/>
          </a:prstGeom>
          <a:solidFill>
            <a:srgbClr val="E872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" y="13533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37160" y="1737360"/>
            <a:ext cx="201168" cy="201168"/>
          </a:xfrm>
          <a:prstGeom prst="ellipse">
            <a:avLst/>
          </a:prstGeom>
          <a:solidFill>
            <a:srgbClr val="E872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1737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37160" y="2761488"/>
            <a:ext cx="201168" cy="201168"/>
          </a:xfrm>
          <a:prstGeom prst="ellipse">
            <a:avLst/>
          </a:prstGeom>
          <a:solidFill>
            <a:srgbClr val="E872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" y="27614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37160" y="4023360"/>
            <a:ext cx="201168" cy="201168"/>
          </a:xfrm>
          <a:prstGeom prst="ellipse">
            <a:avLst/>
          </a:prstGeom>
          <a:solidFill>
            <a:srgbClr val="E872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4023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053328" y="1024128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컴포넌트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53328" y="1261872"/>
            <a:ext cx="2724912" cy="0"/>
          </a:xfrm>
          <a:prstGeom prst="line">
            <a:avLst/>
          </a:prstGeom>
          <a:noFill/>
          <a:ln w="19050">
            <a:solidFill>
              <a:srgbClr val="E8722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53328" y="1399032"/>
            <a:ext cx="182880" cy="182880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33" name="Text 31"/>
          <p:cNvSpPr/>
          <p:nvPr/>
        </p:nvSpPr>
        <p:spPr>
          <a:xfrm>
            <a:off x="6053328" y="13990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309360" y="137160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013448" y="1371600"/>
            <a:ext cx="1764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 · 메뉴 3개 · 로그인 영역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053328" y="1709928"/>
            <a:ext cx="182880" cy="182880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37" name="Text 35"/>
          <p:cNvSpPr/>
          <p:nvPr/>
        </p:nvSpPr>
        <p:spPr>
          <a:xfrm>
            <a:off x="6053328" y="17099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309360" y="168249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 제목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013448" y="1682496"/>
            <a:ext cx="1764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+ 하단 구분선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053328" y="2020824"/>
            <a:ext cx="182880" cy="182880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41" name="Text 39"/>
          <p:cNvSpPr/>
          <p:nvPr/>
        </p:nvSpPr>
        <p:spPr>
          <a:xfrm>
            <a:off x="6053328" y="20208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309360" y="199339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013448" y="1993392"/>
            <a:ext cx="1764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화면별 콘텐츠 영역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053328" y="2331720"/>
            <a:ext cx="182880" cy="182880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45" name="Text 43"/>
          <p:cNvSpPr/>
          <p:nvPr/>
        </p:nvSpPr>
        <p:spPr>
          <a:xfrm>
            <a:off x="6053328" y="23317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309360" y="230428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푸터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013448" y="2304288"/>
            <a:ext cx="1764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정보 및 GitHub 링크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053328" y="2743200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배지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053328" y="2980944"/>
            <a:ext cx="2724912" cy="0"/>
          </a:xfrm>
          <a:prstGeom prst="line">
            <a:avLst/>
          </a:prstGeom>
          <a:noFill/>
          <a:ln w="19050">
            <a:solidFill>
              <a:srgbClr val="E8722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53328" y="3108960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6B7A8C"/>
          </a:solidFill>
          <a:ln w="6350">
            <a:solidFill>
              <a:srgbClr val="6B7A8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53328" y="3108960"/>
            <a:ext cx="8046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접수완료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6967728" y="3108960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E8722C"/>
          </a:solidFill>
          <a:ln w="6350">
            <a:solidFill>
              <a:srgbClr val="E8722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67728" y="3108960"/>
            <a:ext cx="8046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기사배정</a:t>
            </a:r>
            <a:endParaRPr lang="en-US" sz="600" dirty="0"/>
          </a:p>
        </p:txBody>
      </p:sp>
      <p:sp>
        <p:nvSpPr>
          <p:cNvPr id="54" name="Shape 52"/>
          <p:cNvSpPr/>
          <p:nvPr/>
        </p:nvSpPr>
        <p:spPr>
          <a:xfrm>
            <a:off x="7882128" y="3108960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2F80ED"/>
          </a:solidFill>
          <a:ln w="6350">
            <a:solidFill>
              <a:srgbClr val="2F80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882128" y="3108960"/>
            <a:ext cx="8046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방문예정</a:t>
            </a:r>
            <a:endParaRPr lang="en-US" sz="600" dirty="0"/>
          </a:p>
        </p:txBody>
      </p:sp>
      <p:sp>
        <p:nvSpPr>
          <p:cNvPr id="56" name="Shape 54"/>
          <p:cNvSpPr/>
          <p:nvPr/>
        </p:nvSpPr>
        <p:spPr>
          <a:xfrm>
            <a:off x="6053328" y="3364992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27AE60"/>
          </a:solidFill>
          <a:ln w="6350">
            <a:solidFill>
              <a:srgbClr val="27AE6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053328" y="3364992"/>
            <a:ext cx="8046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처리완료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6967728" y="3364992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B0B7BF"/>
          </a:solidFill>
          <a:ln w="6350">
            <a:solidFill>
              <a:srgbClr val="B0B7B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67728" y="3364992"/>
            <a:ext cx="8046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취소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6053328" y="3703320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진행단계 인디케이터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053328" y="3941064"/>
            <a:ext cx="2724912" cy="0"/>
          </a:xfrm>
          <a:prstGeom prst="line">
            <a:avLst/>
          </a:prstGeom>
          <a:noFill/>
          <a:ln w="19050">
            <a:solidFill>
              <a:srgbClr val="E8722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63056" y="4096512"/>
            <a:ext cx="219456" cy="219456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63" name="Text 61"/>
          <p:cNvSpPr/>
          <p:nvPr/>
        </p:nvSpPr>
        <p:spPr>
          <a:xfrm>
            <a:off x="6044184" y="435254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6382512" y="4206240"/>
            <a:ext cx="466344" cy="0"/>
          </a:xfrm>
          <a:prstGeom prst="line">
            <a:avLst/>
          </a:prstGeom>
          <a:noFill/>
          <a:ln w="25400">
            <a:solidFill>
              <a:srgbClr val="D3DC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848856" y="4096512"/>
            <a:ext cx="219456" cy="219456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66" name="Text 64"/>
          <p:cNvSpPr/>
          <p:nvPr/>
        </p:nvSpPr>
        <p:spPr>
          <a:xfrm>
            <a:off x="6729984" y="435254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배정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7068312" y="4206240"/>
            <a:ext cx="466344" cy="0"/>
          </a:xfrm>
          <a:prstGeom prst="line">
            <a:avLst/>
          </a:prstGeom>
          <a:noFill/>
          <a:ln w="25400">
            <a:solidFill>
              <a:srgbClr val="D3DCE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534656" y="4096512"/>
            <a:ext cx="219456" cy="219456"/>
          </a:xfrm>
          <a:prstGeom prst="ellipse">
            <a:avLst/>
          </a:prstGeom>
          <a:solidFill>
            <a:srgbClr val="D3DCE5"/>
          </a:solidFill>
          <a:ln/>
        </p:spPr>
      </p:sp>
      <p:sp>
        <p:nvSpPr>
          <p:cNvPr id="69" name="Text 67"/>
          <p:cNvSpPr/>
          <p:nvPr/>
        </p:nvSpPr>
        <p:spPr>
          <a:xfrm>
            <a:off x="7415784" y="435254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방문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7754112" y="4206240"/>
            <a:ext cx="466344" cy="0"/>
          </a:xfrm>
          <a:prstGeom prst="line">
            <a:avLst/>
          </a:prstGeom>
          <a:noFill/>
          <a:ln w="25400">
            <a:solidFill>
              <a:srgbClr val="D3DCE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220456" y="4096512"/>
            <a:ext cx="219456" cy="219456"/>
          </a:xfrm>
          <a:prstGeom prst="ellipse">
            <a:avLst/>
          </a:prstGeom>
          <a:solidFill>
            <a:srgbClr val="D3DCE5"/>
          </a:solidFill>
          <a:ln/>
        </p:spPr>
      </p:sp>
      <p:sp>
        <p:nvSpPr>
          <p:cNvPr id="72" name="Text 70"/>
          <p:cNvSpPr/>
          <p:nvPr/>
        </p:nvSpPr>
        <p:spPr>
          <a:xfrm>
            <a:off x="8101584" y="435254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713232" cy="329184"/>
          </a:xfrm>
          <a:prstGeom prst="roundRect">
            <a:avLst>
              <a:gd name="adj" fmla="val 16667"/>
            </a:avLst>
          </a:prstGeom>
          <a:solidFill>
            <a:srgbClr val="E8722C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310896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S-01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25296" y="292608"/>
            <a:ext cx="7516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1024128"/>
            <a:ext cx="5440680" cy="3703320"/>
          </a:xfrm>
          <a:prstGeom prst="roundRect">
            <a:avLst>
              <a:gd name="adj" fmla="val 988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024128"/>
            <a:ext cx="5440680" cy="201168"/>
          </a:xfrm>
          <a:prstGeom prst="rect">
            <a:avLst/>
          </a:prstGeom>
          <a:solidFill>
            <a:srgbClr val="E7EDF3"/>
          </a:solidFill>
          <a:ln w="6350">
            <a:solidFill>
              <a:srgbClr val="E7ED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" y="1088136"/>
            <a:ext cx="73152" cy="73152"/>
          </a:xfrm>
          <a:prstGeom prst="ellipse">
            <a:avLst/>
          </a:prstGeom>
          <a:solidFill>
            <a:srgbClr val="C2CCD6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1088136"/>
            <a:ext cx="73152" cy="73152"/>
          </a:xfrm>
          <a:prstGeom prst="ellipse">
            <a:avLst/>
          </a:prstGeom>
          <a:solidFill>
            <a:srgbClr val="C2CCD6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088136"/>
            <a:ext cx="73152" cy="73152"/>
          </a:xfrm>
          <a:prstGeom prst="ellipse">
            <a:avLst/>
          </a:prstGeom>
          <a:solidFill>
            <a:srgbClr val="C2CCD6"/>
          </a:solidFill>
          <a:ln/>
        </p:spPr>
      </p:sp>
      <p:sp>
        <p:nvSpPr>
          <p:cNvPr id="10" name="Shape 8"/>
          <p:cNvSpPr/>
          <p:nvPr/>
        </p:nvSpPr>
        <p:spPr>
          <a:xfrm>
            <a:off x="676656" y="1316736"/>
            <a:ext cx="4855464" cy="274320"/>
          </a:xfrm>
          <a:prstGeom prst="roundRect">
            <a:avLst>
              <a:gd name="adj" fmla="val 13333"/>
            </a:avLst>
          </a:prstGeom>
          <a:solidFill>
            <a:srgbClr val="27374D"/>
          </a:solidFill>
          <a:ln w="6350">
            <a:solidFill>
              <a:srgbClr val="2737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13167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수릿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35608" y="13167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3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수리 접수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304288" y="13167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3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내역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172968" y="13167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3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수리기사 조회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407408" y="13167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3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· 회원가입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76656" y="1682496"/>
            <a:ext cx="4855464" cy="914400"/>
          </a:xfrm>
          <a:prstGeom prst="roundRect">
            <a:avLst>
              <a:gd name="adj" fmla="val 4000"/>
            </a:avLst>
          </a:prstGeom>
          <a:solidFill>
            <a:srgbClr val="27374D"/>
          </a:solidFill>
          <a:ln w="6350">
            <a:solidFill>
              <a:srgbClr val="2737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18013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한 장으로 접수하고,</a:t>
            </a:r>
            <a:endParaRPr lang="en-US" sz="10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어디까지 왔는지 계속 확인하세요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86968" y="2322576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E8722C"/>
          </a:solidFill>
          <a:ln w="6350">
            <a:solidFill>
              <a:srgbClr val="E872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232257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수리 접수하기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76656" y="2761488"/>
            <a:ext cx="1508760" cy="777240"/>
          </a:xfrm>
          <a:prstGeom prst="roundRect">
            <a:avLst>
              <a:gd name="adj" fmla="val 4706"/>
            </a:avLst>
          </a:prstGeom>
          <a:solidFill>
            <a:srgbClr val="F7F9FB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2898648"/>
            <a:ext cx="274320" cy="274320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22" name="Text 20"/>
          <p:cNvSpPr/>
          <p:nvPr/>
        </p:nvSpPr>
        <p:spPr>
          <a:xfrm>
            <a:off x="1152144" y="28986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수리 접수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04672" y="32369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설명 한 줄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2313432" y="2761488"/>
            <a:ext cx="1508760" cy="777240"/>
          </a:xfrm>
          <a:prstGeom prst="roundRect">
            <a:avLst>
              <a:gd name="adj" fmla="val 4706"/>
            </a:avLst>
          </a:prstGeom>
          <a:solidFill>
            <a:srgbClr val="F7F9FB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41448" y="2898648"/>
            <a:ext cx="274320" cy="274320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26" name="Text 24"/>
          <p:cNvSpPr/>
          <p:nvPr/>
        </p:nvSpPr>
        <p:spPr>
          <a:xfrm>
            <a:off x="2788920" y="28986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조회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441448" y="32369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설명 한 줄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3950208" y="2761488"/>
            <a:ext cx="1508760" cy="777240"/>
          </a:xfrm>
          <a:prstGeom prst="roundRect">
            <a:avLst>
              <a:gd name="adj" fmla="val 4706"/>
            </a:avLst>
          </a:prstGeom>
          <a:solidFill>
            <a:srgbClr val="F7F9FB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78224" y="2898648"/>
            <a:ext cx="274320" cy="274320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30" name="Text 28"/>
          <p:cNvSpPr/>
          <p:nvPr/>
        </p:nvSpPr>
        <p:spPr>
          <a:xfrm>
            <a:off x="4425696" y="28986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기사 조회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078224" y="32369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설명 한 줄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676656" y="36758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 방법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" y="3950208"/>
            <a:ext cx="237744" cy="237744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34" name="Text 32"/>
          <p:cNvSpPr/>
          <p:nvPr/>
        </p:nvSpPr>
        <p:spPr>
          <a:xfrm>
            <a:off x="749808" y="39502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042416" y="39502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618488" y="4069080"/>
            <a:ext cx="274320" cy="0"/>
          </a:xfrm>
          <a:prstGeom prst="line">
            <a:avLst/>
          </a:prstGeom>
          <a:noFill/>
          <a:ln w="19050">
            <a:solidFill>
              <a:srgbClr val="D3DC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38528" y="3950208"/>
            <a:ext cx="237744" cy="237744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38" name="Text 36"/>
          <p:cNvSpPr/>
          <p:nvPr/>
        </p:nvSpPr>
        <p:spPr>
          <a:xfrm>
            <a:off x="1938528" y="39502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231136" y="39502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배정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807208" y="4069080"/>
            <a:ext cx="274320" cy="0"/>
          </a:xfrm>
          <a:prstGeom prst="line">
            <a:avLst/>
          </a:prstGeom>
          <a:noFill/>
          <a:ln w="19050">
            <a:solidFill>
              <a:srgbClr val="D3DC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27248" y="3950208"/>
            <a:ext cx="237744" cy="237744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42" name="Text 40"/>
          <p:cNvSpPr/>
          <p:nvPr/>
        </p:nvSpPr>
        <p:spPr>
          <a:xfrm>
            <a:off x="3127248" y="39502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419856" y="39502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방문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995928" y="4069080"/>
            <a:ext cx="274320" cy="0"/>
          </a:xfrm>
          <a:prstGeom prst="line">
            <a:avLst/>
          </a:prstGeom>
          <a:noFill/>
          <a:ln w="19050">
            <a:solidFill>
              <a:srgbClr val="D3DCE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15968" y="3950208"/>
            <a:ext cx="237744" cy="237744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46" name="Text 44"/>
          <p:cNvSpPr/>
          <p:nvPr/>
        </p:nvSpPr>
        <p:spPr>
          <a:xfrm>
            <a:off x="4315968" y="39502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608576" y="39502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37160" y="2029968"/>
            <a:ext cx="201168" cy="201168"/>
          </a:xfrm>
          <a:prstGeom prst="ellipse">
            <a:avLst/>
          </a:prstGeom>
          <a:solidFill>
            <a:srgbClr val="E872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37160" y="20299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37160" y="3035808"/>
            <a:ext cx="201168" cy="201168"/>
          </a:xfrm>
          <a:prstGeom prst="ellipse">
            <a:avLst/>
          </a:prstGeom>
          <a:solidFill>
            <a:srgbClr val="E872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30358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37160" y="3950208"/>
            <a:ext cx="201168" cy="201168"/>
          </a:xfrm>
          <a:prstGeom prst="ellipse">
            <a:avLst/>
          </a:prstGeom>
          <a:solidFill>
            <a:srgbClr val="E872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39502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053328" y="1024128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 요소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053328" y="1261872"/>
            <a:ext cx="2724912" cy="0"/>
          </a:xfrm>
          <a:prstGeom prst="line">
            <a:avLst/>
          </a:prstGeom>
          <a:noFill/>
          <a:ln w="19050">
            <a:solidFill>
              <a:srgbClr val="E8722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053328" y="1389888"/>
            <a:ext cx="182880" cy="182880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57" name="Text 55"/>
          <p:cNvSpPr/>
          <p:nvPr/>
        </p:nvSpPr>
        <p:spPr>
          <a:xfrm>
            <a:off x="6053328" y="13898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6309360" y="1371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히어로 영역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309360" y="1572768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한 줄 소개와 접수하기 버튼. 비로그인 클릭 시 로그인 화면으로 이동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6053328" y="2002536"/>
            <a:ext cx="182880" cy="182880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61" name="Text 59"/>
          <p:cNvSpPr/>
          <p:nvPr/>
        </p:nvSpPr>
        <p:spPr>
          <a:xfrm>
            <a:off x="6053328" y="20025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6309360" y="19842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기능 카드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309360" y="2185416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수리 접수 / 접수 조회 / 기사 조회 3개 카드. 클릭 시 해당 화면 이동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6053328" y="2615184"/>
            <a:ext cx="182880" cy="182880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65" name="Text 63"/>
          <p:cNvSpPr/>
          <p:nvPr/>
        </p:nvSpPr>
        <p:spPr>
          <a:xfrm>
            <a:off x="6053328" y="26151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6309360" y="25968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 방법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6309360" y="2798064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4단계 흐름을 숫자로 안내. 처음 온 사용자가 서비스 구조를 이해하는 영역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202436" cy="329184"/>
          </a:xfrm>
          <a:prstGeom prst="roundRect">
            <a:avLst>
              <a:gd name="adj" fmla="val 16667"/>
            </a:avLst>
          </a:prstGeom>
          <a:solidFill>
            <a:srgbClr val="E8722C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310896"/>
            <a:ext cx="12024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S-02 · S-03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14500" y="292608"/>
            <a:ext cx="70271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회원가입 · 로그인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1024128"/>
            <a:ext cx="2651760" cy="370332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887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회원가입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591056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9105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212848" y="1591056"/>
            <a:ext cx="5486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12848" y="15910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중복확인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58368" y="182880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27AE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가능한 아이디입니다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658368" y="2029968"/>
            <a:ext cx="210312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029968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58368" y="2322576"/>
            <a:ext cx="210312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322576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 확인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58368" y="2615184"/>
            <a:ext cx="210312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615184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58368" y="2907792"/>
            <a:ext cx="210312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907792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연락처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58368" y="3200400"/>
            <a:ext cx="210312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200400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58368" y="3493008"/>
            <a:ext cx="210312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493008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858768"/>
            <a:ext cx="2103120" cy="237744"/>
          </a:xfrm>
          <a:prstGeom prst="roundRect">
            <a:avLst>
              <a:gd name="adj" fmla="val 15385"/>
            </a:avLst>
          </a:prstGeom>
          <a:solidFill>
            <a:srgbClr val="E8722C"/>
          </a:solidFill>
          <a:ln w="6350">
            <a:solidFill>
              <a:srgbClr val="E872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85876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가입하기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79776" y="1572768"/>
            <a:ext cx="201168" cy="201168"/>
          </a:xfrm>
          <a:prstGeom prst="ellipse">
            <a:avLst/>
          </a:prstGeom>
          <a:solidFill>
            <a:srgbClr val="E872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79776" y="1572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172968" y="1024128"/>
            <a:ext cx="2651760" cy="370332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72968" y="11887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47288" y="1801368"/>
            <a:ext cx="210312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20440" y="1801368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447288" y="2121408"/>
            <a:ext cx="210312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20440" y="2121408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447288" y="2505456"/>
            <a:ext cx="2103120" cy="237744"/>
          </a:xfrm>
          <a:prstGeom prst="roundRect">
            <a:avLst>
              <a:gd name="adj" fmla="val 15385"/>
            </a:avLst>
          </a:prstGeom>
          <a:solidFill>
            <a:srgbClr val="E8722C"/>
          </a:solidFill>
          <a:ln w="6350">
            <a:solidFill>
              <a:srgbClr val="E872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47288" y="250545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447288" y="28529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회원이 아니신가요?  회원가입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447288" y="3264408"/>
            <a:ext cx="2103120" cy="640080"/>
          </a:xfrm>
          <a:prstGeom prst="roundRect">
            <a:avLst>
              <a:gd name="adj" fmla="val 5714"/>
            </a:avLst>
          </a:prstGeom>
          <a:solidFill>
            <a:srgbClr val="F7F9FB"/>
          </a:solidFill>
          <a:ln w="12700">
            <a:solidFill>
              <a:srgbClr val="C8D2DC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3447288" y="32644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성공 시 권한(MEMBER_ROLE)에 따라</a:t>
            </a:r>
            <a:endParaRPr lang="en-US" sz="6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일반회원 → 메인 / 관리자 → S-09 로 분기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3264408" y="2487168"/>
            <a:ext cx="201168" cy="201168"/>
          </a:xfrm>
          <a:prstGeom prst="ellipse">
            <a:avLst/>
          </a:prstGeom>
          <a:solidFill>
            <a:srgbClr val="E872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64408" y="2487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264408" y="3401568"/>
            <a:ext cx="201168" cy="201168"/>
          </a:xfrm>
          <a:prstGeom prst="ellipse">
            <a:avLst/>
          </a:prstGeom>
          <a:solidFill>
            <a:srgbClr val="E872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64408" y="34015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053328" y="1024128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 요소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053328" y="1261872"/>
            <a:ext cx="2724912" cy="0"/>
          </a:xfrm>
          <a:prstGeom prst="line">
            <a:avLst/>
          </a:prstGeom>
          <a:noFill/>
          <a:ln w="19050">
            <a:solidFill>
              <a:srgbClr val="E8722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53328" y="1389888"/>
            <a:ext cx="182880" cy="182880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46" name="Text 44"/>
          <p:cNvSpPr/>
          <p:nvPr/>
        </p:nvSpPr>
        <p:spPr>
          <a:xfrm>
            <a:off x="6053328" y="13898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309360" y="1371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 중복확인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309360" y="1572768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fetch로 비동기 검증. 결과를 입력창 아래 문구로 즉시 표시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053328" y="2002536"/>
            <a:ext cx="182880" cy="182880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50" name="Text 48"/>
          <p:cNvSpPr/>
          <p:nvPr/>
        </p:nvSpPr>
        <p:spPr>
          <a:xfrm>
            <a:off x="6053328" y="20025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309360" y="19842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처리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309360" y="2185416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세션에 회원 정보 저장. 실패 시 입력창 아래 안내 문구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053328" y="2615184"/>
            <a:ext cx="182880" cy="182880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54" name="Text 52"/>
          <p:cNvSpPr/>
          <p:nvPr/>
        </p:nvSpPr>
        <p:spPr>
          <a:xfrm>
            <a:off x="6053328" y="26151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309360" y="25968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분기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309360" y="2798064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MEMBER_ROLE이 A면 관리자 화면으로 이동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713232" cy="329184"/>
          </a:xfrm>
          <a:prstGeom prst="roundRect">
            <a:avLst>
              <a:gd name="adj" fmla="val 16667"/>
            </a:avLst>
          </a:prstGeom>
          <a:solidFill>
            <a:srgbClr val="E8722C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310896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S-05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25296" y="292608"/>
            <a:ext cx="7516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수리 접수 폼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1024128"/>
            <a:ext cx="5440680" cy="3703320"/>
          </a:xfrm>
          <a:prstGeom prst="roundRect">
            <a:avLst>
              <a:gd name="adj" fmla="val 988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024128"/>
            <a:ext cx="5440680" cy="201168"/>
          </a:xfrm>
          <a:prstGeom prst="rect">
            <a:avLst/>
          </a:prstGeom>
          <a:solidFill>
            <a:srgbClr val="E7EDF3"/>
          </a:solidFill>
          <a:ln w="6350">
            <a:solidFill>
              <a:srgbClr val="E7ED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" y="1088136"/>
            <a:ext cx="73152" cy="73152"/>
          </a:xfrm>
          <a:prstGeom prst="ellipse">
            <a:avLst/>
          </a:prstGeom>
          <a:solidFill>
            <a:srgbClr val="C2CCD6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1088136"/>
            <a:ext cx="73152" cy="73152"/>
          </a:xfrm>
          <a:prstGeom prst="ellipse">
            <a:avLst/>
          </a:prstGeom>
          <a:solidFill>
            <a:srgbClr val="C2CCD6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088136"/>
            <a:ext cx="73152" cy="73152"/>
          </a:xfrm>
          <a:prstGeom prst="ellipse">
            <a:avLst/>
          </a:prstGeom>
          <a:solidFill>
            <a:srgbClr val="C2CCD6"/>
          </a:solidFill>
          <a:ln/>
        </p:spPr>
      </p:sp>
      <p:sp>
        <p:nvSpPr>
          <p:cNvPr id="10" name="Shape 8"/>
          <p:cNvSpPr/>
          <p:nvPr/>
        </p:nvSpPr>
        <p:spPr>
          <a:xfrm>
            <a:off x="676656" y="1316736"/>
            <a:ext cx="4855464" cy="274320"/>
          </a:xfrm>
          <a:prstGeom prst="roundRect">
            <a:avLst>
              <a:gd name="adj" fmla="val 13333"/>
            </a:avLst>
          </a:prstGeom>
          <a:solidFill>
            <a:srgbClr val="27374D"/>
          </a:solidFill>
          <a:ln w="6350">
            <a:solidFill>
              <a:srgbClr val="2737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13167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수릿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35608" y="13167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72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수리 접수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304288" y="13167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3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내역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172968" y="13167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3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수리기사 조회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407408" y="13167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3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· 회원가입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76656" y="17099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수리 접수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" y="1965960"/>
            <a:ext cx="4855464" cy="0"/>
          </a:xfrm>
          <a:prstGeom prst="line">
            <a:avLst/>
          </a:prstGeom>
          <a:noFill/>
          <a:ln w="12700">
            <a:solidFill>
              <a:srgbClr val="C8D2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204825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*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636776" y="2029968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09928" y="202996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냉장고  ▾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282696" y="20482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제품명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014216" y="2029968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87368" y="202996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모델명 입력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76656" y="23957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*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636776" y="2377440"/>
            <a:ext cx="3895344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09928" y="23774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제목을 입력하세요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76656" y="27432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 증상 *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636776" y="2724912"/>
            <a:ext cx="3895344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09928" y="27249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증상인지 자세히 적어주세요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76656" y="33558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첨부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636776" y="3310128"/>
            <a:ext cx="1371600" cy="566928"/>
          </a:xfrm>
          <a:prstGeom prst="roundRect">
            <a:avLst>
              <a:gd name="adj" fmla="val 6452"/>
            </a:avLst>
          </a:prstGeom>
          <a:solidFill>
            <a:srgbClr val="F7F9FB"/>
          </a:solidFill>
          <a:ln w="12700">
            <a:solidFill>
              <a:srgbClr val="C8D2DC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636776" y="33101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 사진 올리기</a:t>
            </a:r>
            <a:endParaRPr lang="en-US" sz="6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 3장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3099816" y="3310128"/>
            <a:ext cx="566928" cy="566928"/>
          </a:xfrm>
          <a:prstGeom prst="roundRect">
            <a:avLst>
              <a:gd name="adj" fmla="val 6452"/>
            </a:avLst>
          </a:prstGeom>
          <a:solidFill>
            <a:srgbClr val="EDF1F5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99816" y="3310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3739896" y="3310128"/>
            <a:ext cx="566928" cy="566928"/>
          </a:xfrm>
          <a:prstGeom prst="roundRect">
            <a:avLst>
              <a:gd name="adj" fmla="val 6452"/>
            </a:avLst>
          </a:prstGeom>
          <a:solidFill>
            <a:srgbClr val="EDF1F5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39896" y="3310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676656" y="4023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방문 주소 *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636776" y="4005072"/>
            <a:ext cx="3895344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09928" y="40050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서울시 강남구 테헤란로 1 (회원 기본 주소)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76656" y="43708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희망 일시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636776" y="4352544"/>
            <a:ext cx="118872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709928" y="4352544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2026-08-25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916936" y="4352544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90088" y="4352544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오후 2시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840480" y="4334256"/>
            <a:ext cx="7772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0480" y="433425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취소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663440" y="4334256"/>
            <a:ext cx="868680" cy="237744"/>
          </a:xfrm>
          <a:prstGeom prst="roundRect">
            <a:avLst>
              <a:gd name="adj" fmla="val 15385"/>
            </a:avLst>
          </a:prstGeom>
          <a:solidFill>
            <a:srgbClr val="E8722C"/>
          </a:solidFill>
          <a:ln w="6350">
            <a:solidFill>
              <a:srgbClr val="E8722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0" y="433425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접수하기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137160" y="2011680"/>
            <a:ext cx="201168" cy="201168"/>
          </a:xfrm>
          <a:prstGeom prst="ellipse">
            <a:avLst/>
          </a:prstGeom>
          <a:solidFill>
            <a:srgbClr val="E872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37160" y="20116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137160" y="3401568"/>
            <a:ext cx="201168" cy="201168"/>
          </a:xfrm>
          <a:prstGeom prst="ellipse">
            <a:avLst/>
          </a:prstGeom>
          <a:solidFill>
            <a:srgbClr val="E872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37160" y="34015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137160" y="3986784"/>
            <a:ext cx="201168" cy="201168"/>
          </a:xfrm>
          <a:prstGeom prst="ellipse">
            <a:avLst/>
          </a:prstGeom>
          <a:solidFill>
            <a:srgbClr val="E872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37160" y="3986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852160" y="4315968"/>
            <a:ext cx="201168" cy="201168"/>
          </a:xfrm>
          <a:prstGeom prst="ellipse">
            <a:avLst/>
          </a:prstGeom>
          <a:solidFill>
            <a:srgbClr val="E872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852160" y="43159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053328" y="1024128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 요소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053328" y="1261872"/>
            <a:ext cx="2724912" cy="0"/>
          </a:xfrm>
          <a:prstGeom prst="line">
            <a:avLst/>
          </a:prstGeom>
          <a:noFill/>
          <a:ln w="19050">
            <a:solidFill>
              <a:srgbClr val="E8722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053328" y="1389888"/>
            <a:ext cx="182880" cy="182880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60" name="Text 58"/>
          <p:cNvSpPr/>
          <p:nvPr/>
        </p:nvSpPr>
        <p:spPr>
          <a:xfrm>
            <a:off x="6053328" y="13898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6309360" y="1371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정보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309360" y="1572768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카테고리는 CATEGORY 테이블 조회. 제목과 증상은 필수 입력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6053328" y="2002536"/>
            <a:ext cx="182880" cy="182880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64" name="Text 62"/>
          <p:cNvSpPr/>
          <p:nvPr/>
        </p:nvSpPr>
        <p:spPr>
          <a:xfrm>
            <a:off x="6053328" y="20025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309360" y="19842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첨부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309360" y="2185416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 3장. 선택 즉시 썸네일 표시. 첫 장이 대표사진(IMG_LEVEL=1)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6053328" y="2615184"/>
            <a:ext cx="182880" cy="182880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68" name="Text 66"/>
          <p:cNvSpPr/>
          <p:nvPr/>
        </p:nvSpPr>
        <p:spPr>
          <a:xfrm>
            <a:off x="6053328" y="26151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6309360" y="25968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방문 정보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309360" y="2798064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기본 주소를 자동 입력하고 수정 가능. 희망 일시는 date + time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6053328" y="3227832"/>
            <a:ext cx="182880" cy="182880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72" name="Text 70"/>
          <p:cNvSpPr/>
          <p:nvPr/>
        </p:nvSpPr>
        <p:spPr>
          <a:xfrm>
            <a:off x="6053328" y="32278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6309360" y="320954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액션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6309360" y="3410712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필수값 미입력 시 해당 필드 아래 빨간 안내문 표시 후 전송 차단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713232" cy="329184"/>
          </a:xfrm>
          <a:prstGeom prst="roundRect">
            <a:avLst>
              <a:gd name="adj" fmla="val 16667"/>
            </a:avLst>
          </a:prstGeom>
          <a:solidFill>
            <a:srgbClr val="E8722C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310896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S-06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25296" y="292608"/>
            <a:ext cx="7516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내역 목록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1024128"/>
            <a:ext cx="5440680" cy="3703320"/>
          </a:xfrm>
          <a:prstGeom prst="roundRect">
            <a:avLst>
              <a:gd name="adj" fmla="val 988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024128"/>
            <a:ext cx="5440680" cy="201168"/>
          </a:xfrm>
          <a:prstGeom prst="rect">
            <a:avLst/>
          </a:prstGeom>
          <a:solidFill>
            <a:srgbClr val="E7EDF3"/>
          </a:solidFill>
          <a:ln w="6350">
            <a:solidFill>
              <a:srgbClr val="E7ED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" y="1088136"/>
            <a:ext cx="73152" cy="73152"/>
          </a:xfrm>
          <a:prstGeom prst="ellipse">
            <a:avLst/>
          </a:prstGeom>
          <a:solidFill>
            <a:srgbClr val="C2CCD6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1088136"/>
            <a:ext cx="73152" cy="73152"/>
          </a:xfrm>
          <a:prstGeom prst="ellipse">
            <a:avLst/>
          </a:prstGeom>
          <a:solidFill>
            <a:srgbClr val="C2CCD6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088136"/>
            <a:ext cx="73152" cy="73152"/>
          </a:xfrm>
          <a:prstGeom prst="ellipse">
            <a:avLst/>
          </a:prstGeom>
          <a:solidFill>
            <a:srgbClr val="C2CCD6"/>
          </a:solidFill>
          <a:ln/>
        </p:spPr>
      </p:sp>
      <p:sp>
        <p:nvSpPr>
          <p:cNvPr id="10" name="Shape 8"/>
          <p:cNvSpPr/>
          <p:nvPr/>
        </p:nvSpPr>
        <p:spPr>
          <a:xfrm>
            <a:off x="676656" y="1316736"/>
            <a:ext cx="4855464" cy="274320"/>
          </a:xfrm>
          <a:prstGeom prst="roundRect">
            <a:avLst>
              <a:gd name="adj" fmla="val 13333"/>
            </a:avLst>
          </a:prstGeom>
          <a:solidFill>
            <a:srgbClr val="27374D"/>
          </a:solidFill>
          <a:ln w="6350">
            <a:solidFill>
              <a:srgbClr val="2737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13167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수릿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35608" y="13167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3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수리 접수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304288" y="13167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72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내역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172968" y="13167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3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수리기사 조회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407408" y="13167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3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· 회원가입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76656" y="17099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내역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" y="1965960"/>
            <a:ext cx="4855464" cy="0"/>
          </a:xfrm>
          <a:prstGeom prst="line">
            <a:avLst/>
          </a:prstGeom>
          <a:noFill/>
          <a:ln w="12700">
            <a:solidFill>
              <a:srgbClr val="C8D2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" y="2048256"/>
            <a:ext cx="676656" cy="219456"/>
          </a:xfrm>
          <a:prstGeom prst="roundRect">
            <a:avLst>
              <a:gd name="adj" fmla="val 16667"/>
            </a:avLst>
          </a:prstGeom>
          <a:solidFill>
            <a:srgbClr val="27374D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" y="2048256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1389888" y="2048256"/>
            <a:ext cx="676656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89888" y="2048256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접수완료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2103120" y="2048256"/>
            <a:ext cx="676656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2048256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기사배정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2816352" y="2048256"/>
            <a:ext cx="676656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16352" y="2048256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방문예정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3529584" y="2048256"/>
            <a:ext cx="676656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9584" y="2048256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처리완료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4471416" y="2048256"/>
            <a:ext cx="77724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44568" y="2048256"/>
            <a:ext cx="630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▾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557016" y="2048256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30168" y="2048256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검색어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76656" y="2395728"/>
            <a:ext cx="4855464" cy="219456"/>
          </a:xfrm>
          <a:prstGeom prst="rect">
            <a:avLst/>
          </a:prstGeom>
          <a:solidFill>
            <a:srgbClr val="27374D"/>
          </a:solidFill>
          <a:ln w="6350">
            <a:solidFill>
              <a:srgbClr val="2737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" y="239572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1088136" y="23957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1819656" y="239572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3694176" y="239572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4379976" y="239572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희망일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5065776" y="2395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접수일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676656" y="2615184"/>
            <a:ext cx="485546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3232" y="2615184"/>
            <a:ext cx="338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1124712" y="261518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냉장고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1856232" y="2615184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냉장실이 안 시원해요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3749040" y="2656332"/>
            <a:ext cx="576072" cy="155448"/>
          </a:xfrm>
          <a:prstGeom prst="roundRect">
            <a:avLst>
              <a:gd name="adj" fmla="val 23529"/>
            </a:avLst>
          </a:prstGeom>
          <a:solidFill>
            <a:srgbClr val="6B7A8C"/>
          </a:solidFill>
          <a:ln w="6350">
            <a:solidFill>
              <a:srgbClr val="6B7A8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49040" y="2656332"/>
            <a:ext cx="5760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접수완료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4416552" y="2615184"/>
            <a:ext cx="612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08-25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5102352" y="2615184"/>
            <a:ext cx="429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08-20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676656" y="2852928"/>
            <a:ext cx="4855464" cy="237744"/>
          </a:xfrm>
          <a:prstGeom prst="rect">
            <a:avLst/>
          </a:prstGeom>
          <a:solidFill>
            <a:srgbClr val="F7F9FB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3232" y="2852928"/>
            <a:ext cx="338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1124712" y="285292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에어컨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1856232" y="2852928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실외기에서 소음이 납니다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3749040" y="2894076"/>
            <a:ext cx="576072" cy="155448"/>
          </a:xfrm>
          <a:prstGeom prst="roundRect">
            <a:avLst>
              <a:gd name="adj" fmla="val 23529"/>
            </a:avLst>
          </a:prstGeom>
          <a:solidFill>
            <a:srgbClr val="E8722C"/>
          </a:solidFill>
          <a:ln w="6350">
            <a:solidFill>
              <a:srgbClr val="E8722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49040" y="2894076"/>
            <a:ext cx="5760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기사배정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416552" y="2852928"/>
            <a:ext cx="612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08-24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5102352" y="2852928"/>
            <a:ext cx="429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08-19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676656" y="3090672"/>
            <a:ext cx="485546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3232" y="3090672"/>
            <a:ext cx="338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1124712" y="309067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보일러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1856232" y="3090672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온수가 미지근합니다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3749040" y="3131820"/>
            <a:ext cx="576072" cy="155448"/>
          </a:xfrm>
          <a:prstGeom prst="roundRect">
            <a:avLst>
              <a:gd name="adj" fmla="val 23529"/>
            </a:avLst>
          </a:prstGeom>
          <a:solidFill>
            <a:srgbClr val="2F80ED"/>
          </a:solidFill>
          <a:ln w="6350">
            <a:solidFill>
              <a:srgbClr val="2F80E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749040" y="3131820"/>
            <a:ext cx="5760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방문예정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4416552" y="3090672"/>
            <a:ext cx="612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08-22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5102352" y="3090672"/>
            <a:ext cx="429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08-18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676656" y="3328416"/>
            <a:ext cx="4855464" cy="237744"/>
          </a:xfrm>
          <a:prstGeom prst="rect">
            <a:avLst/>
          </a:prstGeom>
          <a:solidFill>
            <a:srgbClr val="F7F9FB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3232" y="3328416"/>
            <a:ext cx="338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1124712" y="332841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세탁기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1856232" y="3328416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탈수 중 심하게 흔들림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3749040" y="3369564"/>
            <a:ext cx="576072" cy="155448"/>
          </a:xfrm>
          <a:prstGeom prst="roundRect">
            <a:avLst>
              <a:gd name="adj" fmla="val 23529"/>
            </a:avLst>
          </a:prstGeom>
          <a:solidFill>
            <a:srgbClr val="27AE60"/>
          </a:solidFill>
          <a:ln w="6350">
            <a:solidFill>
              <a:srgbClr val="27AE6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749040" y="3369564"/>
            <a:ext cx="5760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처리완료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4416552" y="3328416"/>
            <a:ext cx="612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08-19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5102352" y="3328416"/>
            <a:ext cx="429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08-15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2551176" y="3904488"/>
            <a:ext cx="329184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551176" y="390448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</a:t>
            </a:r>
            <a:endParaRPr lang="en-US" sz="600" dirty="0"/>
          </a:p>
        </p:txBody>
      </p:sp>
      <p:sp>
        <p:nvSpPr>
          <p:cNvPr id="73" name="Shape 71"/>
          <p:cNvSpPr/>
          <p:nvPr/>
        </p:nvSpPr>
        <p:spPr>
          <a:xfrm>
            <a:off x="2935224" y="3904488"/>
            <a:ext cx="329184" cy="201168"/>
          </a:xfrm>
          <a:prstGeom prst="roundRect">
            <a:avLst>
              <a:gd name="adj" fmla="val 18182"/>
            </a:avLst>
          </a:prstGeom>
          <a:solidFill>
            <a:srgbClr val="E8722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935224" y="390448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600" dirty="0"/>
          </a:p>
        </p:txBody>
      </p:sp>
      <p:sp>
        <p:nvSpPr>
          <p:cNvPr id="75" name="Shape 73"/>
          <p:cNvSpPr/>
          <p:nvPr/>
        </p:nvSpPr>
        <p:spPr>
          <a:xfrm>
            <a:off x="3319272" y="3904488"/>
            <a:ext cx="329184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319272" y="390448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600" dirty="0"/>
          </a:p>
        </p:txBody>
      </p:sp>
      <p:sp>
        <p:nvSpPr>
          <p:cNvPr id="77" name="Shape 75"/>
          <p:cNvSpPr/>
          <p:nvPr/>
        </p:nvSpPr>
        <p:spPr>
          <a:xfrm>
            <a:off x="3703320" y="3904488"/>
            <a:ext cx="329184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703320" y="390448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</a:t>
            </a:r>
            <a:endParaRPr lang="en-US" sz="600" dirty="0"/>
          </a:p>
        </p:txBody>
      </p:sp>
      <p:sp>
        <p:nvSpPr>
          <p:cNvPr id="79" name="Shape 77"/>
          <p:cNvSpPr/>
          <p:nvPr/>
        </p:nvSpPr>
        <p:spPr>
          <a:xfrm>
            <a:off x="137160" y="2029968"/>
            <a:ext cx="201168" cy="201168"/>
          </a:xfrm>
          <a:prstGeom prst="ellipse">
            <a:avLst/>
          </a:prstGeom>
          <a:solidFill>
            <a:srgbClr val="E872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37160" y="20299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137160" y="2377440"/>
            <a:ext cx="201168" cy="201168"/>
          </a:xfrm>
          <a:prstGeom prst="ellipse">
            <a:avLst/>
          </a:prstGeom>
          <a:solidFill>
            <a:srgbClr val="E872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37160" y="23774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137160" y="3127248"/>
            <a:ext cx="201168" cy="201168"/>
          </a:xfrm>
          <a:prstGeom prst="ellipse">
            <a:avLst/>
          </a:prstGeom>
          <a:solidFill>
            <a:srgbClr val="E872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37160" y="31272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137160" y="3886200"/>
            <a:ext cx="201168" cy="201168"/>
          </a:xfrm>
          <a:prstGeom prst="ellipse">
            <a:avLst/>
          </a:prstGeom>
          <a:solidFill>
            <a:srgbClr val="E872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37160" y="38862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053328" y="1024128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 요소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6053328" y="1261872"/>
            <a:ext cx="2724912" cy="0"/>
          </a:xfrm>
          <a:prstGeom prst="line">
            <a:avLst/>
          </a:prstGeom>
          <a:noFill/>
          <a:ln w="19050">
            <a:solidFill>
              <a:srgbClr val="E8722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053328" y="1389888"/>
            <a:ext cx="182880" cy="182880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90" name="Text 88"/>
          <p:cNvSpPr/>
          <p:nvPr/>
        </p:nvSpPr>
        <p:spPr>
          <a:xfrm>
            <a:off x="6053328" y="13898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6309360" y="1371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탭 · 필터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6309360" y="1572768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5개 상태 탭 + 카테고리 select + 키워드 검색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6053328" y="2002536"/>
            <a:ext cx="182880" cy="182880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94" name="Text 92"/>
          <p:cNvSpPr/>
          <p:nvPr/>
        </p:nvSpPr>
        <p:spPr>
          <a:xfrm>
            <a:off x="6053328" y="20025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6309360" y="19842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 헤더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6309360" y="2185416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 / 카테고리 / 제목 / 상태 / 희망일 / 접수일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6053328" y="2615184"/>
            <a:ext cx="182880" cy="182880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98" name="Text 96"/>
          <p:cNvSpPr/>
          <p:nvPr/>
        </p:nvSpPr>
        <p:spPr>
          <a:xfrm>
            <a:off x="6053328" y="26151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6309360" y="25968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 행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6309360" y="2798064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상태는 색상 배지로 구분. 행 전체가 클릭 영역이며 S-07로 이동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6053328" y="3227832"/>
            <a:ext cx="182880" cy="182880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102" name="Text 100"/>
          <p:cNvSpPr/>
          <p:nvPr/>
        </p:nvSpPr>
        <p:spPr>
          <a:xfrm>
            <a:off x="6053328" y="32278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6309360" y="320954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페이징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6309360" y="3410712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페이지당 10건. 내역이 없으면 빈 상태 문구와 접수하기 버튼 표시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713232" cy="329184"/>
          </a:xfrm>
          <a:prstGeom prst="roundRect">
            <a:avLst>
              <a:gd name="adj" fmla="val 16667"/>
            </a:avLst>
          </a:prstGeom>
          <a:solidFill>
            <a:srgbClr val="E8722C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310896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S-07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25296" y="292608"/>
            <a:ext cx="7516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상세 · 진행단계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1024128"/>
            <a:ext cx="5440680" cy="3703320"/>
          </a:xfrm>
          <a:prstGeom prst="roundRect">
            <a:avLst>
              <a:gd name="adj" fmla="val 988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024128"/>
            <a:ext cx="5440680" cy="201168"/>
          </a:xfrm>
          <a:prstGeom prst="rect">
            <a:avLst/>
          </a:prstGeom>
          <a:solidFill>
            <a:srgbClr val="E7EDF3"/>
          </a:solidFill>
          <a:ln w="6350">
            <a:solidFill>
              <a:srgbClr val="E7ED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" y="1088136"/>
            <a:ext cx="73152" cy="73152"/>
          </a:xfrm>
          <a:prstGeom prst="ellipse">
            <a:avLst/>
          </a:prstGeom>
          <a:solidFill>
            <a:srgbClr val="C2CCD6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1088136"/>
            <a:ext cx="73152" cy="73152"/>
          </a:xfrm>
          <a:prstGeom prst="ellipse">
            <a:avLst/>
          </a:prstGeom>
          <a:solidFill>
            <a:srgbClr val="C2CCD6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088136"/>
            <a:ext cx="73152" cy="73152"/>
          </a:xfrm>
          <a:prstGeom prst="ellipse">
            <a:avLst/>
          </a:prstGeom>
          <a:solidFill>
            <a:srgbClr val="C2CCD6"/>
          </a:solidFill>
          <a:ln/>
        </p:spPr>
      </p:sp>
      <p:sp>
        <p:nvSpPr>
          <p:cNvPr id="10" name="Shape 8"/>
          <p:cNvSpPr/>
          <p:nvPr/>
        </p:nvSpPr>
        <p:spPr>
          <a:xfrm>
            <a:off x="676656" y="1316736"/>
            <a:ext cx="4855464" cy="274320"/>
          </a:xfrm>
          <a:prstGeom prst="roundRect">
            <a:avLst>
              <a:gd name="adj" fmla="val 13333"/>
            </a:avLst>
          </a:prstGeom>
          <a:solidFill>
            <a:srgbClr val="27374D"/>
          </a:solidFill>
          <a:ln w="6350">
            <a:solidFill>
              <a:srgbClr val="2737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13167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수릿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35608" y="13167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3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수리 접수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304288" y="13167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72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내역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172968" y="13167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3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수리기사 조회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407408" y="13167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3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· 회원가입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76656" y="17099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#11  실외기에서 소음이 납니다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746504"/>
            <a:ext cx="777240" cy="155448"/>
          </a:xfrm>
          <a:prstGeom prst="roundRect">
            <a:avLst>
              <a:gd name="adj" fmla="val 23529"/>
            </a:avLst>
          </a:prstGeom>
          <a:solidFill>
            <a:srgbClr val="E8722C"/>
          </a:solidFill>
          <a:ln w="6350">
            <a:solidFill>
              <a:srgbClr val="E872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746504"/>
            <a:ext cx="777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기사배정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676656" y="1984248"/>
            <a:ext cx="4855464" cy="0"/>
          </a:xfrm>
          <a:prstGeom prst="line">
            <a:avLst/>
          </a:prstGeom>
          <a:noFill/>
          <a:ln w="12700">
            <a:solidFill>
              <a:srgbClr val="C8D2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" y="2066544"/>
            <a:ext cx="4855464" cy="4572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6350">
            <a:solidFill>
              <a:srgbClr val="F7F9F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3856" y="2139696"/>
            <a:ext cx="201168" cy="201168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22" name="Text 20"/>
          <p:cNvSpPr/>
          <p:nvPr/>
        </p:nvSpPr>
        <p:spPr>
          <a:xfrm>
            <a:off x="859536" y="2340864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접수완료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1335024" y="2240280"/>
            <a:ext cx="1033272" cy="0"/>
          </a:xfrm>
          <a:prstGeom prst="line">
            <a:avLst/>
          </a:prstGeom>
          <a:noFill/>
          <a:ln w="25400">
            <a:solidFill>
              <a:srgbClr val="E8722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68296" y="2139696"/>
            <a:ext cx="201168" cy="201168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25" name="Text 23"/>
          <p:cNvSpPr/>
          <p:nvPr/>
        </p:nvSpPr>
        <p:spPr>
          <a:xfrm>
            <a:off x="2093976" y="2340864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기사배정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2569464" y="2240280"/>
            <a:ext cx="1033272" cy="0"/>
          </a:xfrm>
          <a:prstGeom prst="line">
            <a:avLst/>
          </a:prstGeom>
          <a:noFill/>
          <a:ln w="25400">
            <a:solidFill>
              <a:srgbClr val="D3DC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02736" y="2139696"/>
            <a:ext cx="201168" cy="201168"/>
          </a:xfrm>
          <a:prstGeom prst="ellipse">
            <a:avLst/>
          </a:prstGeom>
          <a:solidFill>
            <a:srgbClr val="D3DCE5"/>
          </a:solidFill>
          <a:ln/>
        </p:spPr>
      </p:sp>
      <p:sp>
        <p:nvSpPr>
          <p:cNvPr id="28" name="Text 26"/>
          <p:cNvSpPr/>
          <p:nvPr/>
        </p:nvSpPr>
        <p:spPr>
          <a:xfrm>
            <a:off x="3328416" y="2340864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방문예정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3803904" y="2240280"/>
            <a:ext cx="1033272" cy="0"/>
          </a:xfrm>
          <a:prstGeom prst="line">
            <a:avLst/>
          </a:prstGeom>
          <a:noFill/>
          <a:ln w="25400">
            <a:solidFill>
              <a:srgbClr val="D3DC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37176" y="2139696"/>
            <a:ext cx="201168" cy="201168"/>
          </a:xfrm>
          <a:prstGeom prst="ellipse">
            <a:avLst/>
          </a:prstGeom>
          <a:solidFill>
            <a:srgbClr val="D3DCE5"/>
          </a:solidFill>
          <a:ln/>
        </p:spPr>
      </p:sp>
      <p:sp>
        <p:nvSpPr>
          <p:cNvPr id="31" name="Text 29"/>
          <p:cNvSpPr/>
          <p:nvPr/>
        </p:nvSpPr>
        <p:spPr>
          <a:xfrm>
            <a:off x="4562856" y="2340864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처리완료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676656" y="2624328"/>
            <a:ext cx="1371600" cy="960120"/>
          </a:xfrm>
          <a:prstGeom prst="roundRect">
            <a:avLst>
              <a:gd name="adj" fmla="val 3810"/>
            </a:avLst>
          </a:prstGeom>
          <a:solidFill>
            <a:srgbClr val="EDF1F5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" y="2624328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 사진</a:t>
            </a:r>
            <a:endParaRPr lang="en-US" sz="6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(클릭 시 확대)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2139696" y="26517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2871216" y="26517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에어컨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2139696" y="284378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제품명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2871216" y="28437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LG 휘센 2020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139696" y="303580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2871216" y="30358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실외기에서 금속 마찰음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2139696" y="322783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방문 주소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2871216" y="32278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서울시 강남구 테헤란로 1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2139696" y="341985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희망 일시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2871216" y="34198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2026-08-24 오후 2시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676656" y="3675888"/>
            <a:ext cx="4855464" cy="384048"/>
          </a:xfrm>
          <a:prstGeom prst="roundRect">
            <a:avLst>
              <a:gd name="adj" fmla="val 9524"/>
            </a:avLst>
          </a:prstGeom>
          <a:solidFill>
            <a:srgbClr val="FBF1E9"/>
          </a:solidFill>
          <a:ln w="12700">
            <a:solidFill>
              <a:srgbClr val="F0D7C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6384" y="3675888"/>
            <a:ext cx="4636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E46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기사  이기사 · 010-5555-6666        확정 방문  2026-08-24 14:00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76656" y="41513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 2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76656" y="4352544"/>
            <a:ext cx="3941064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9808" y="435254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내용을 입력하세요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4709160" y="4352544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E8722C"/>
          </a:solidFill>
          <a:ln w="6350">
            <a:solidFill>
              <a:srgbClr val="E8722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09160" y="43525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137160" y="2048256"/>
            <a:ext cx="201168" cy="201168"/>
          </a:xfrm>
          <a:prstGeom prst="ellipse">
            <a:avLst/>
          </a:prstGeom>
          <a:solidFill>
            <a:srgbClr val="E872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37160" y="20482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137160" y="2944368"/>
            <a:ext cx="201168" cy="201168"/>
          </a:xfrm>
          <a:prstGeom prst="ellipse">
            <a:avLst/>
          </a:prstGeom>
          <a:solidFill>
            <a:srgbClr val="E872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37160" y="29443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37160" y="3657600"/>
            <a:ext cx="201168" cy="201168"/>
          </a:xfrm>
          <a:prstGeom prst="ellipse">
            <a:avLst/>
          </a:prstGeom>
          <a:solidFill>
            <a:srgbClr val="E872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37160" y="36576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137160" y="4334256"/>
            <a:ext cx="201168" cy="201168"/>
          </a:xfrm>
          <a:prstGeom prst="ellipse">
            <a:avLst/>
          </a:prstGeom>
          <a:solidFill>
            <a:srgbClr val="E872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37160" y="43342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053328" y="1024128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 요소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053328" y="1261872"/>
            <a:ext cx="2724912" cy="0"/>
          </a:xfrm>
          <a:prstGeom prst="line">
            <a:avLst/>
          </a:prstGeom>
          <a:noFill/>
          <a:ln w="19050">
            <a:solidFill>
              <a:srgbClr val="E8722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053328" y="1389888"/>
            <a:ext cx="182880" cy="182880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62" name="Text 60"/>
          <p:cNvSpPr/>
          <p:nvPr/>
        </p:nvSpPr>
        <p:spPr>
          <a:xfrm>
            <a:off x="6053328" y="13898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6309360" y="1371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진행단계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309360" y="1572768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REQUEST_STATUS 기준 4단계. 지난 단계는 오렌지, 이후는 회색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053328" y="2002536"/>
            <a:ext cx="182880" cy="182880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66" name="Text 64"/>
          <p:cNvSpPr/>
          <p:nvPr/>
        </p:nvSpPr>
        <p:spPr>
          <a:xfrm>
            <a:off x="6053328" y="20025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6309360" y="19842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정보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309360" y="2185416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 사진과 접수 내용. 사진 클릭 시 원본 확대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6053328" y="2615184"/>
            <a:ext cx="182880" cy="182880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70" name="Text 68"/>
          <p:cNvSpPr/>
          <p:nvPr/>
        </p:nvSpPr>
        <p:spPr>
          <a:xfrm>
            <a:off x="6053328" y="26151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6309360" y="25968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배정 · 결과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6309360" y="2798064"/>
            <a:ext cx="24688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기사배정 이후 담당 기사와 방문 일시 노출. 처리완료 시 수리 내용과 비용 영역 추가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6053328" y="3369564"/>
            <a:ext cx="182880" cy="182880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74" name="Text 72"/>
          <p:cNvSpPr/>
          <p:nvPr/>
        </p:nvSpPr>
        <p:spPr>
          <a:xfrm>
            <a:off x="6053328" y="33695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6309360" y="335127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댓글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6309360" y="3552444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fetch로 등록·삭제. 새로고침 없이 목록 갱신. 본인 글에만 삭제 노출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202436" cy="329184"/>
          </a:xfrm>
          <a:prstGeom prst="roundRect">
            <a:avLst>
              <a:gd name="adj" fmla="val 16667"/>
            </a:avLst>
          </a:prstGeom>
          <a:solidFill>
            <a:srgbClr val="E8722C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310896"/>
            <a:ext cx="12024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S-08 · S-04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14500" y="292608"/>
            <a:ext cx="70271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수리기사 조회 · 마이페이지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1024128"/>
            <a:ext cx="2651760" cy="370332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704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S-08  수리기사 조회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109728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8132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▾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755648" y="1481328"/>
            <a:ext cx="109728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148132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▾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66928" y="1847088"/>
            <a:ext cx="2286000" cy="493776"/>
          </a:xfrm>
          <a:prstGeom prst="roundRect">
            <a:avLst>
              <a:gd name="adj" fmla="val 7407"/>
            </a:avLst>
          </a:prstGeom>
          <a:solidFill>
            <a:srgbClr val="F7F9FB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" y="1956816"/>
            <a:ext cx="274320" cy="274320"/>
          </a:xfrm>
          <a:prstGeom prst="ellipse">
            <a:avLst/>
          </a:prstGeom>
          <a:solidFill>
            <a:srgbClr val="27374D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" y="1956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42416" y="19202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박기사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42416" y="21031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냉장고 · 서울 강남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2258568" y="2011680"/>
            <a:ext cx="502920" cy="155448"/>
          </a:xfrm>
          <a:prstGeom prst="roundRect">
            <a:avLst>
              <a:gd name="adj" fmla="val 23529"/>
            </a:avLst>
          </a:prstGeom>
          <a:solidFill>
            <a:srgbClr val="27AE60"/>
          </a:solidFill>
          <a:ln w="635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58568" y="2011680"/>
            <a:ext cx="502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배정가능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566928" y="2414016"/>
            <a:ext cx="2286000" cy="493776"/>
          </a:xfrm>
          <a:prstGeom prst="roundRect">
            <a:avLst>
              <a:gd name="adj" fmla="val 7407"/>
            </a:avLst>
          </a:prstGeom>
          <a:solidFill>
            <a:srgbClr val="F7F9FB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" y="2523744"/>
            <a:ext cx="274320" cy="274320"/>
          </a:xfrm>
          <a:prstGeom prst="ellipse">
            <a:avLst/>
          </a:prstGeom>
          <a:solidFill>
            <a:srgbClr val="27374D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" y="2523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42416" y="24871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이기사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42416" y="2670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에어컨 · 서울 송파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2258568" y="2578608"/>
            <a:ext cx="502920" cy="155448"/>
          </a:xfrm>
          <a:prstGeom prst="roundRect">
            <a:avLst>
              <a:gd name="adj" fmla="val 23529"/>
            </a:avLst>
          </a:prstGeom>
          <a:solidFill>
            <a:srgbClr val="27AE60"/>
          </a:solidFill>
          <a:ln w="635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58568" y="2578608"/>
            <a:ext cx="502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배정가능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566928" y="2980944"/>
            <a:ext cx="2286000" cy="493776"/>
          </a:xfrm>
          <a:prstGeom prst="roundRect">
            <a:avLst>
              <a:gd name="adj" fmla="val 7407"/>
            </a:avLst>
          </a:prstGeom>
          <a:solidFill>
            <a:srgbClr val="F7F9FB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3090672"/>
            <a:ext cx="274320" cy="274320"/>
          </a:xfrm>
          <a:prstGeom prst="ellipse">
            <a:avLst/>
          </a:prstGeom>
          <a:solidFill>
            <a:srgbClr val="27374D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42416" y="30540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최기사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42416" y="323697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보일러 · 경기 성남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2258568" y="3145536"/>
            <a:ext cx="502920" cy="155448"/>
          </a:xfrm>
          <a:prstGeom prst="roundRect">
            <a:avLst>
              <a:gd name="adj" fmla="val 23529"/>
            </a:avLst>
          </a:prstGeom>
          <a:solidFill>
            <a:srgbClr val="B0B7BF"/>
          </a:solidFill>
          <a:ln w="6350">
            <a:solidFill>
              <a:srgbClr val="B0B7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58568" y="3145536"/>
            <a:ext cx="502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휴무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137160" y="1463040"/>
            <a:ext cx="201168" cy="201168"/>
          </a:xfrm>
          <a:prstGeom prst="ellipse">
            <a:avLst/>
          </a:prstGeom>
          <a:solidFill>
            <a:srgbClr val="E872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160" y="1463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37160" y="2029968"/>
            <a:ext cx="201168" cy="201168"/>
          </a:xfrm>
          <a:prstGeom prst="ellipse">
            <a:avLst/>
          </a:prstGeom>
          <a:solidFill>
            <a:srgbClr val="E872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" y="20299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172968" y="1024128"/>
            <a:ext cx="2651760" cy="370332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55848" y="11704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S-04  마이페이지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355848" y="152704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041648" y="1527048"/>
            <a:ext cx="160020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0" y="1527048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user01 (수정 불가)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355848" y="185623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4041648" y="1856232"/>
            <a:ext cx="160020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0" y="1856232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김테스트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355848" y="218541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연락처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041648" y="2185416"/>
            <a:ext cx="160020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0" y="2185416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010-1111-2222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355848" y="251460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041648" y="2514600"/>
            <a:ext cx="160020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0" y="2514600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user01@test.com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355848" y="28437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041648" y="2843784"/>
            <a:ext cx="160020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0" y="2843784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서울시 강남구 테헤란로 1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355848" y="3264408"/>
            <a:ext cx="2286000" cy="237744"/>
          </a:xfrm>
          <a:prstGeom prst="roundRect">
            <a:avLst>
              <a:gd name="adj" fmla="val 15385"/>
            </a:avLst>
          </a:prstGeom>
          <a:solidFill>
            <a:srgbClr val="E8722C"/>
          </a:solidFill>
          <a:ln w="6350">
            <a:solidFill>
              <a:srgbClr val="E8722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55848" y="32644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 수정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355848" y="3584448"/>
            <a:ext cx="109728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55848" y="358444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 변경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544568" y="3584448"/>
            <a:ext cx="109728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44568" y="358444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탈퇴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3355848" y="3950208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C8D2DC"/>
            </a:solidFill>
            <a:prstDash val="dash"/>
          </a:ln>
        </p:spPr>
      </p:sp>
      <p:sp>
        <p:nvSpPr>
          <p:cNvPr id="60" name="Text 58"/>
          <p:cNvSpPr/>
          <p:nvPr/>
        </p:nvSpPr>
        <p:spPr>
          <a:xfrm>
            <a:off x="3355848" y="39502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탈퇴 시 STATUS를 N으로 변경(soft delete)</a:t>
            </a:r>
            <a:endParaRPr lang="en-US" sz="6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이력은 보존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3218688" y="1508760"/>
            <a:ext cx="201168" cy="201168"/>
          </a:xfrm>
          <a:prstGeom prst="ellipse">
            <a:avLst/>
          </a:prstGeom>
          <a:solidFill>
            <a:srgbClr val="E872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18688" y="15087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3218688" y="3931920"/>
            <a:ext cx="201168" cy="201168"/>
          </a:xfrm>
          <a:prstGeom prst="ellipse">
            <a:avLst/>
          </a:prstGeom>
          <a:solidFill>
            <a:srgbClr val="E872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18688" y="3931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053328" y="1024128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 요소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053328" y="1261872"/>
            <a:ext cx="2724912" cy="0"/>
          </a:xfrm>
          <a:prstGeom prst="line">
            <a:avLst/>
          </a:prstGeom>
          <a:noFill/>
          <a:ln w="19050">
            <a:solidFill>
              <a:srgbClr val="E8722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053328" y="1389888"/>
            <a:ext cx="182880" cy="182880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68" name="Text 66"/>
          <p:cNvSpPr/>
          <p:nvPr/>
        </p:nvSpPr>
        <p:spPr>
          <a:xfrm>
            <a:off x="6053328" y="13898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6309360" y="1371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기사 필터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309360" y="1572768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카테고리와 담당 지역으로 필터. 비로그인도 조회 가능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6053328" y="2002536"/>
            <a:ext cx="182880" cy="182880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72" name="Text 70"/>
          <p:cNvSpPr/>
          <p:nvPr/>
        </p:nvSpPr>
        <p:spPr>
          <a:xfrm>
            <a:off x="6053328" y="20025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6309360" y="19842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기사 카드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6309360" y="2185416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· 담당 카테고리 · 지역 · 배정가능 여부 배지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6053328" y="2615184"/>
            <a:ext cx="182880" cy="182880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76" name="Text 74"/>
          <p:cNvSpPr/>
          <p:nvPr/>
        </p:nvSpPr>
        <p:spPr>
          <a:xfrm>
            <a:off x="6053328" y="26151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6309360" y="25968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정보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6309360" y="2798064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아이디는 수정 불가. 나머지 항목만 변경 가능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6053328" y="3227832"/>
            <a:ext cx="182880" cy="182880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80" name="Text 78"/>
          <p:cNvSpPr/>
          <p:nvPr/>
        </p:nvSpPr>
        <p:spPr>
          <a:xfrm>
            <a:off x="6053328" y="32278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6309360" y="320954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탈퇴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6309360" y="3410712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STATUS를 N으로 바꾸는 soft delete. 접수 이력은 남김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713232" cy="329184"/>
          </a:xfrm>
          <a:prstGeom prst="roundRect">
            <a:avLst>
              <a:gd name="adj" fmla="val 16667"/>
            </a:avLst>
          </a:prstGeom>
          <a:solidFill>
            <a:srgbClr val="E8722C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310896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S-09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25296" y="292608"/>
            <a:ext cx="7516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· 전체 접수 관리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1024128"/>
            <a:ext cx="5440680" cy="3703320"/>
          </a:xfrm>
          <a:prstGeom prst="roundRect">
            <a:avLst>
              <a:gd name="adj" fmla="val 988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024128"/>
            <a:ext cx="5440680" cy="201168"/>
          </a:xfrm>
          <a:prstGeom prst="rect">
            <a:avLst/>
          </a:prstGeom>
          <a:solidFill>
            <a:srgbClr val="E7EDF3"/>
          </a:solidFill>
          <a:ln w="6350">
            <a:solidFill>
              <a:srgbClr val="E7ED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" y="1088136"/>
            <a:ext cx="73152" cy="73152"/>
          </a:xfrm>
          <a:prstGeom prst="ellipse">
            <a:avLst/>
          </a:prstGeom>
          <a:solidFill>
            <a:srgbClr val="C2CCD6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1088136"/>
            <a:ext cx="73152" cy="73152"/>
          </a:xfrm>
          <a:prstGeom prst="ellipse">
            <a:avLst/>
          </a:prstGeom>
          <a:solidFill>
            <a:srgbClr val="C2CCD6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088136"/>
            <a:ext cx="73152" cy="73152"/>
          </a:xfrm>
          <a:prstGeom prst="ellipse">
            <a:avLst/>
          </a:prstGeom>
          <a:solidFill>
            <a:srgbClr val="C2CCD6"/>
          </a:solidFill>
          <a:ln/>
        </p:spPr>
      </p:sp>
      <p:sp>
        <p:nvSpPr>
          <p:cNvPr id="10" name="Shape 8"/>
          <p:cNvSpPr/>
          <p:nvPr/>
        </p:nvSpPr>
        <p:spPr>
          <a:xfrm>
            <a:off x="676656" y="1316736"/>
            <a:ext cx="4855464" cy="274320"/>
          </a:xfrm>
          <a:prstGeom prst="roundRect">
            <a:avLst>
              <a:gd name="adj" fmla="val 13333"/>
            </a:avLst>
          </a:prstGeom>
          <a:solidFill>
            <a:srgbClr val="27374D"/>
          </a:solidFill>
          <a:ln w="6350">
            <a:solidFill>
              <a:srgbClr val="2737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13167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수릿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35608" y="13167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3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수리 접수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304288" y="13167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3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내역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172968" y="13167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3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수리기사 조회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407408" y="13167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3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· 회원가입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76656" y="17099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접수 관리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" y="1965960"/>
            <a:ext cx="4855464" cy="0"/>
          </a:xfrm>
          <a:prstGeom prst="line">
            <a:avLst/>
          </a:prstGeom>
          <a:noFill/>
          <a:ln w="12700">
            <a:solidFill>
              <a:srgbClr val="C8D2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" y="2029968"/>
            <a:ext cx="9144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" y="20756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접수완료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676656" y="22311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655064" y="2029968"/>
            <a:ext cx="9144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55064" y="20756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기사배정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655064" y="22311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2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633472" y="2029968"/>
            <a:ext cx="9144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33472" y="20756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방문예정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2633472" y="22311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80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11880" y="2029968"/>
            <a:ext cx="9144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11880" y="20756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처리완료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3611880" y="22311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90288" y="2029968"/>
            <a:ext cx="9144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90288" y="20756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취소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4590288" y="22311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B7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76656" y="2596896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596896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▾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591056" y="2596896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64208" y="2596896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▾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505456" y="2596896"/>
            <a:ext cx="109728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78608" y="259689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694176" y="2596896"/>
            <a:ext cx="118872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67328" y="2596896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검색어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974336" y="2596896"/>
            <a:ext cx="548640" cy="219456"/>
          </a:xfrm>
          <a:prstGeom prst="roundRect">
            <a:avLst>
              <a:gd name="adj" fmla="val 16667"/>
            </a:avLst>
          </a:prstGeom>
          <a:solidFill>
            <a:srgbClr val="E8722C"/>
          </a:solidFill>
          <a:ln w="6350">
            <a:solidFill>
              <a:srgbClr val="E8722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74336" y="259689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76656" y="2962656"/>
            <a:ext cx="4855464" cy="219456"/>
          </a:xfrm>
          <a:prstGeom prst="rect">
            <a:avLst/>
          </a:prstGeom>
          <a:solidFill>
            <a:srgbClr val="27374D"/>
          </a:solidFill>
          <a:ln w="6350">
            <a:solidFill>
              <a:srgbClr val="27374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6656" y="296265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1042416" y="296265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1591056" y="29626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2231136" y="296265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3648456" y="296265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4306824" y="29626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담당기사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4946904" y="296265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676656" y="3182112"/>
            <a:ext cx="4855464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3232" y="318211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1078992" y="318211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김테스트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1627632" y="318211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냉장고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2267712" y="3182112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냉장실이 안 시원해요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3703320" y="3232404"/>
            <a:ext cx="548640" cy="155448"/>
          </a:xfrm>
          <a:prstGeom prst="roundRect">
            <a:avLst>
              <a:gd name="adj" fmla="val 23529"/>
            </a:avLst>
          </a:prstGeom>
          <a:solidFill>
            <a:srgbClr val="6B7A8C"/>
          </a:solidFill>
          <a:ln w="6350">
            <a:solidFill>
              <a:srgbClr val="6B7A8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703320" y="3232404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접수완료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3044952" y="31821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4965192" y="3209544"/>
            <a:ext cx="512064" cy="201168"/>
          </a:xfrm>
          <a:prstGeom prst="roundRect">
            <a:avLst>
              <a:gd name="adj" fmla="val 18182"/>
            </a:avLst>
          </a:prstGeom>
          <a:solidFill>
            <a:srgbClr val="E8722C"/>
          </a:solidFill>
          <a:ln w="6350">
            <a:solidFill>
              <a:srgbClr val="E8722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65192" y="320954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676656" y="3438144"/>
            <a:ext cx="4855464" cy="256032"/>
          </a:xfrm>
          <a:prstGeom prst="rect">
            <a:avLst/>
          </a:prstGeom>
          <a:solidFill>
            <a:srgbClr val="F7F9FB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3232" y="343814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1078992" y="343814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이회원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1627632" y="343814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에어컨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2267712" y="3438144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실외기 소음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3703320" y="3488436"/>
            <a:ext cx="548640" cy="155448"/>
          </a:xfrm>
          <a:prstGeom prst="roundRect">
            <a:avLst>
              <a:gd name="adj" fmla="val 23529"/>
            </a:avLst>
          </a:prstGeom>
          <a:solidFill>
            <a:srgbClr val="E8722C"/>
          </a:solidFill>
          <a:ln w="6350">
            <a:solidFill>
              <a:srgbClr val="E8722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703320" y="3488436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기사배정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3044952" y="34381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이기사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4965192" y="3465576"/>
            <a:ext cx="512064" cy="201168"/>
          </a:xfrm>
          <a:prstGeom prst="roundRect">
            <a:avLst>
              <a:gd name="adj" fmla="val 18182"/>
            </a:avLst>
          </a:prstGeom>
          <a:solidFill>
            <a:srgbClr val="E8722C"/>
          </a:solidFill>
          <a:ln w="6350">
            <a:solidFill>
              <a:srgbClr val="E8722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965192" y="346557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676656" y="3694176"/>
            <a:ext cx="4855464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13232" y="369417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1078992" y="3694176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박회원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1627632" y="369417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보일러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2267712" y="3694176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온수가 미지근함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3703320" y="3744468"/>
            <a:ext cx="548640" cy="155448"/>
          </a:xfrm>
          <a:prstGeom prst="roundRect">
            <a:avLst>
              <a:gd name="adj" fmla="val 23529"/>
            </a:avLst>
          </a:prstGeom>
          <a:solidFill>
            <a:srgbClr val="2F80ED"/>
          </a:solidFill>
          <a:ln w="6350">
            <a:solidFill>
              <a:srgbClr val="2F80E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703320" y="3744468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방문예정</a:t>
            </a:r>
            <a:endParaRPr lang="en-US" sz="600" dirty="0"/>
          </a:p>
        </p:txBody>
      </p:sp>
      <p:sp>
        <p:nvSpPr>
          <p:cNvPr id="78" name="Text 76"/>
          <p:cNvSpPr/>
          <p:nvPr/>
        </p:nvSpPr>
        <p:spPr>
          <a:xfrm>
            <a:off x="3044952" y="36941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최기사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4965192" y="3721608"/>
            <a:ext cx="512064" cy="201168"/>
          </a:xfrm>
          <a:prstGeom prst="roundRect">
            <a:avLst>
              <a:gd name="adj" fmla="val 18182"/>
            </a:avLst>
          </a:prstGeom>
          <a:solidFill>
            <a:srgbClr val="E8722C"/>
          </a:solidFill>
          <a:ln w="6350">
            <a:solidFill>
              <a:srgbClr val="E8722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965192" y="3721608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</a:t>
            </a:r>
            <a:endParaRPr lang="en-US" sz="650" dirty="0"/>
          </a:p>
        </p:txBody>
      </p:sp>
      <p:sp>
        <p:nvSpPr>
          <p:cNvPr id="81" name="Shape 79"/>
          <p:cNvSpPr/>
          <p:nvPr/>
        </p:nvSpPr>
        <p:spPr>
          <a:xfrm>
            <a:off x="676656" y="3950208"/>
            <a:ext cx="4855464" cy="256032"/>
          </a:xfrm>
          <a:prstGeom prst="rect">
            <a:avLst/>
          </a:prstGeom>
          <a:solidFill>
            <a:srgbClr val="F7F9FB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13232" y="395020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1078992" y="395020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최회원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1627632" y="395020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세탁기</a:t>
            </a:r>
            <a:endParaRPr lang="en-US" sz="650" dirty="0"/>
          </a:p>
        </p:txBody>
      </p:sp>
      <p:sp>
        <p:nvSpPr>
          <p:cNvPr id="85" name="Text 83"/>
          <p:cNvSpPr/>
          <p:nvPr/>
        </p:nvSpPr>
        <p:spPr>
          <a:xfrm>
            <a:off x="2267712" y="3950208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탈수 중 흔들림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3703320" y="4000500"/>
            <a:ext cx="548640" cy="155448"/>
          </a:xfrm>
          <a:prstGeom prst="roundRect">
            <a:avLst>
              <a:gd name="adj" fmla="val 23529"/>
            </a:avLst>
          </a:prstGeom>
          <a:solidFill>
            <a:srgbClr val="27AE60"/>
          </a:solidFill>
          <a:ln w="6350">
            <a:solidFill>
              <a:srgbClr val="27AE6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703320" y="4000500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처리완료</a:t>
            </a:r>
            <a:endParaRPr lang="en-US" sz="600" dirty="0"/>
          </a:p>
        </p:txBody>
      </p:sp>
      <p:sp>
        <p:nvSpPr>
          <p:cNvPr id="88" name="Text 86"/>
          <p:cNvSpPr/>
          <p:nvPr/>
        </p:nvSpPr>
        <p:spPr>
          <a:xfrm>
            <a:off x="3044952" y="39502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박기사</a:t>
            </a:r>
            <a:endParaRPr lang="en-US" sz="650" dirty="0"/>
          </a:p>
        </p:txBody>
      </p:sp>
      <p:sp>
        <p:nvSpPr>
          <p:cNvPr id="89" name="Shape 87"/>
          <p:cNvSpPr/>
          <p:nvPr/>
        </p:nvSpPr>
        <p:spPr>
          <a:xfrm>
            <a:off x="4965192" y="3977640"/>
            <a:ext cx="512064" cy="201168"/>
          </a:xfrm>
          <a:prstGeom prst="roundRect">
            <a:avLst>
              <a:gd name="adj" fmla="val 18182"/>
            </a:avLst>
          </a:prstGeom>
          <a:solidFill>
            <a:srgbClr val="E8722C"/>
          </a:solidFill>
          <a:ln w="6350">
            <a:solidFill>
              <a:srgbClr val="E8722C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965192" y="397764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</a:t>
            </a:r>
            <a:endParaRPr lang="en-US" sz="650" dirty="0"/>
          </a:p>
        </p:txBody>
      </p:sp>
      <p:sp>
        <p:nvSpPr>
          <p:cNvPr id="91" name="Shape 89"/>
          <p:cNvSpPr/>
          <p:nvPr/>
        </p:nvSpPr>
        <p:spPr>
          <a:xfrm>
            <a:off x="137160" y="2121408"/>
            <a:ext cx="201168" cy="201168"/>
          </a:xfrm>
          <a:prstGeom prst="ellipse">
            <a:avLst/>
          </a:prstGeom>
          <a:solidFill>
            <a:srgbClr val="E872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37160" y="2121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137160" y="2578608"/>
            <a:ext cx="201168" cy="201168"/>
          </a:xfrm>
          <a:prstGeom prst="ellipse">
            <a:avLst/>
          </a:prstGeom>
          <a:solidFill>
            <a:srgbClr val="E872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37160" y="25786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137160" y="3218688"/>
            <a:ext cx="201168" cy="201168"/>
          </a:xfrm>
          <a:prstGeom prst="ellipse">
            <a:avLst/>
          </a:prstGeom>
          <a:solidFill>
            <a:srgbClr val="E872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37160" y="3218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5852160" y="3694176"/>
            <a:ext cx="201168" cy="201168"/>
          </a:xfrm>
          <a:prstGeom prst="ellipse">
            <a:avLst/>
          </a:prstGeom>
          <a:solidFill>
            <a:srgbClr val="E872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852160" y="36941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6053328" y="1024128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 요소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6053328" y="1261872"/>
            <a:ext cx="2724912" cy="0"/>
          </a:xfrm>
          <a:prstGeom prst="line">
            <a:avLst/>
          </a:prstGeom>
          <a:noFill/>
          <a:ln w="19050">
            <a:solidFill>
              <a:srgbClr val="E8722C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053328" y="1389888"/>
            <a:ext cx="182880" cy="182880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102" name="Text 100"/>
          <p:cNvSpPr/>
          <p:nvPr/>
        </p:nvSpPr>
        <p:spPr>
          <a:xfrm>
            <a:off x="6053328" y="13898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6309360" y="1371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 요약 카드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6309360" y="1572768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상태별 건수 5개. 카드 클릭 시 해당 상태로 목록 필터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6053328" y="2002536"/>
            <a:ext cx="182880" cy="182880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106" name="Text 104"/>
          <p:cNvSpPr/>
          <p:nvPr/>
        </p:nvSpPr>
        <p:spPr>
          <a:xfrm>
            <a:off x="6053328" y="20025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6309360" y="19842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필터 · 검색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6309360" y="2185416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/ 카테고리 / 접수 기간 / 키워드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6053328" y="2615184"/>
            <a:ext cx="182880" cy="182880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110" name="Text 108"/>
          <p:cNvSpPr/>
          <p:nvPr/>
        </p:nvSpPr>
        <p:spPr>
          <a:xfrm>
            <a:off x="6053328" y="26151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6309360" y="25968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</a:t>
            </a:r>
            <a:endParaRPr lang="en-US" sz="850" dirty="0"/>
          </a:p>
        </p:txBody>
      </p:sp>
      <p:sp>
        <p:nvSpPr>
          <p:cNvPr id="112" name="Text 110"/>
          <p:cNvSpPr/>
          <p:nvPr/>
        </p:nvSpPr>
        <p:spPr>
          <a:xfrm>
            <a:off x="6309360" y="2798064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회원명과 담당기사가 추가된 관리자 전용 컬럼 구성. 페이지당 15건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6053328" y="3227832"/>
            <a:ext cx="182880" cy="182880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114" name="Text 112"/>
          <p:cNvSpPr/>
          <p:nvPr/>
        </p:nvSpPr>
        <p:spPr>
          <a:xfrm>
            <a:off x="6053328" y="32278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6309360" y="320954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버튼</a:t>
            </a:r>
            <a:endParaRPr lang="en-US" sz="850" dirty="0"/>
          </a:p>
        </p:txBody>
      </p:sp>
      <p:sp>
        <p:nvSpPr>
          <p:cNvPr id="116" name="Text 114"/>
          <p:cNvSpPr/>
          <p:nvPr/>
        </p:nvSpPr>
        <p:spPr>
          <a:xfrm>
            <a:off x="6309360" y="3410712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 시 S-10 접수 처리 화면으로 이동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713232" cy="329184"/>
          </a:xfrm>
          <a:prstGeom prst="roundRect">
            <a:avLst>
              <a:gd name="adj" fmla="val 16667"/>
            </a:avLst>
          </a:prstGeom>
          <a:solidFill>
            <a:srgbClr val="E8722C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310896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S-10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25296" y="292608"/>
            <a:ext cx="7516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· 접수 처리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1024128"/>
            <a:ext cx="5440680" cy="3703320"/>
          </a:xfrm>
          <a:prstGeom prst="roundRect">
            <a:avLst>
              <a:gd name="adj" fmla="val 988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024128"/>
            <a:ext cx="5440680" cy="201168"/>
          </a:xfrm>
          <a:prstGeom prst="rect">
            <a:avLst/>
          </a:prstGeom>
          <a:solidFill>
            <a:srgbClr val="E7EDF3"/>
          </a:solidFill>
          <a:ln w="6350">
            <a:solidFill>
              <a:srgbClr val="E7ED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" y="1088136"/>
            <a:ext cx="73152" cy="73152"/>
          </a:xfrm>
          <a:prstGeom prst="ellipse">
            <a:avLst/>
          </a:prstGeom>
          <a:solidFill>
            <a:srgbClr val="C2CCD6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1088136"/>
            <a:ext cx="73152" cy="73152"/>
          </a:xfrm>
          <a:prstGeom prst="ellipse">
            <a:avLst/>
          </a:prstGeom>
          <a:solidFill>
            <a:srgbClr val="C2CCD6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088136"/>
            <a:ext cx="73152" cy="73152"/>
          </a:xfrm>
          <a:prstGeom prst="ellipse">
            <a:avLst/>
          </a:prstGeom>
          <a:solidFill>
            <a:srgbClr val="C2CCD6"/>
          </a:solidFill>
          <a:ln/>
        </p:spPr>
      </p:sp>
      <p:sp>
        <p:nvSpPr>
          <p:cNvPr id="10" name="Shape 8"/>
          <p:cNvSpPr/>
          <p:nvPr/>
        </p:nvSpPr>
        <p:spPr>
          <a:xfrm>
            <a:off x="676656" y="1316736"/>
            <a:ext cx="4855464" cy="274320"/>
          </a:xfrm>
          <a:prstGeom prst="roundRect">
            <a:avLst>
              <a:gd name="adj" fmla="val 13333"/>
            </a:avLst>
          </a:prstGeom>
          <a:solidFill>
            <a:srgbClr val="27374D"/>
          </a:solidFill>
          <a:ln w="6350">
            <a:solidFill>
              <a:srgbClr val="2737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13167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수릿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35608" y="13167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3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수리 접수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304288" y="13167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3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내역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172968" y="13167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3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수리기사 조회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407408" y="13167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3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· 회원가입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76656" y="168249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#11  실외기에서 소음이 납니다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1709928"/>
            <a:ext cx="777240" cy="155448"/>
          </a:xfrm>
          <a:prstGeom prst="roundRect">
            <a:avLst>
              <a:gd name="adj" fmla="val 23529"/>
            </a:avLst>
          </a:prstGeom>
          <a:solidFill>
            <a:srgbClr val="E8722C"/>
          </a:solidFill>
          <a:ln w="6350">
            <a:solidFill>
              <a:srgbClr val="E872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709928"/>
            <a:ext cx="777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기사배정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676656" y="1938528"/>
            <a:ext cx="4855464" cy="0"/>
          </a:xfrm>
          <a:prstGeom prst="line">
            <a:avLst/>
          </a:prstGeom>
          <a:noFill/>
          <a:ln w="12700">
            <a:solidFill>
              <a:srgbClr val="C8D2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" y="2029968"/>
            <a:ext cx="2286000" cy="2377440"/>
          </a:xfrm>
          <a:prstGeom prst="roundRect">
            <a:avLst>
              <a:gd name="adj" fmla="val 1600"/>
            </a:avLst>
          </a:prstGeom>
          <a:solidFill>
            <a:srgbClr val="F7F9FB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21031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정보 (읽기 전용)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86384" y="2340864"/>
            <a:ext cx="2066544" cy="685800"/>
          </a:xfrm>
          <a:prstGeom prst="roundRect">
            <a:avLst>
              <a:gd name="adj" fmla="val 5333"/>
            </a:avLst>
          </a:prstGeom>
          <a:solidFill>
            <a:srgbClr val="EDF1F5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2340864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 사진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786384" y="31089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362456" y="31089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이회원 · 010-2222-3333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786384" y="33284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362456" y="332841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에어컨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786384" y="35478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362456" y="354787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실외기에서 금속 마찰음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786384" y="37673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1362456" y="376732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서울시 강남구 테헤란로 1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786384" y="398678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희망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1362456" y="398678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2026-08-24 오후 2시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3099816" y="2029968"/>
            <a:ext cx="2432304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872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27832" y="21031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872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기사 배정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227832" y="23500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기사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3877056" y="2340864"/>
            <a:ext cx="141732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50208" y="2340864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이기사 (에어컨·송파) ▾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227832" y="26060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방문 일시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3877056" y="2596896"/>
            <a:ext cx="77724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50208" y="2596896"/>
            <a:ext cx="630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08-24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700016" y="2596896"/>
            <a:ext cx="59436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73168" y="2596896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14:00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227832" y="2852928"/>
            <a:ext cx="150876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00984" y="2852928"/>
            <a:ext cx="1362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메모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791456" y="2852928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E8722C"/>
          </a:solidFill>
          <a:ln w="6350">
            <a:solidFill>
              <a:srgbClr val="E8722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91456" y="28529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배정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3099816" y="3264408"/>
            <a:ext cx="2432304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27832" y="33375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결과 등록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227832" y="3566160"/>
            <a:ext cx="2066544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00984" y="3566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수리 내용을 입력하세요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227832" y="3986784"/>
            <a:ext cx="118872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00984" y="3986784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부품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471416" y="3986784"/>
            <a:ext cx="45720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44568" y="398678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AA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974336" y="3986784"/>
            <a:ext cx="320040" cy="219456"/>
          </a:xfrm>
          <a:prstGeom prst="roundRect">
            <a:avLst>
              <a:gd name="adj" fmla="val 16667"/>
            </a:avLst>
          </a:prstGeom>
          <a:solidFill>
            <a:srgbClr val="B8C4D0"/>
          </a:solidFill>
          <a:ln w="6350">
            <a:solidFill>
              <a:srgbClr val="B8C4D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74336" y="398678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137160" y="2011680"/>
            <a:ext cx="201168" cy="201168"/>
          </a:xfrm>
          <a:prstGeom prst="ellipse">
            <a:avLst/>
          </a:prstGeom>
          <a:solidFill>
            <a:srgbClr val="E872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37160" y="20116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971800" y="1993392"/>
            <a:ext cx="201168" cy="201168"/>
          </a:xfrm>
          <a:prstGeom prst="ellipse">
            <a:avLst/>
          </a:prstGeom>
          <a:solidFill>
            <a:srgbClr val="E872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971800" y="19933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2971800" y="3227832"/>
            <a:ext cx="201168" cy="201168"/>
          </a:xfrm>
          <a:prstGeom prst="ellipse">
            <a:avLst/>
          </a:prstGeom>
          <a:solidFill>
            <a:srgbClr val="E872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971800" y="32278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053328" y="1024128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 요소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053328" y="1261872"/>
            <a:ext cx="2724912" cy="0"/>
          </a:xfrm>
          <a:prstGeom prst="line">
            <a:avLst/>
          </a:prstGeom>
          <a:noFill/>
          <a:ln w="19050">
            <a:solidFill>
              <a:srgbClr val="E8722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053328" y="1389888"/>
            <a:ext cx="182880" cy="182880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67" name="Text 65"/>
          <p:cNvSpPr/>
          <p:nvPr/>
        </p:nvSpPr>
        <p:spPr>
          <a:xfrm>
            <a:off x="6053328" y="13898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6309360" y="1371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정보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309360" y="1572768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좌측은 읽기 전용. 사진과 증상을 보며 기사를 판단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6053328" y="2002536"/>
            <a:ext cx="182880" cy="182880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71" name="Text 69"/>
          <p:cNvSpPr/>
          <p:nvPr/>
        </p:nvSpPr>
        <p:spPr>
          <a:xfrm>
            <a:off x="6053328" y="20025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6309360" y="19842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기사 배정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6309360" y="2185416"/>
            <a:ext cx="24688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카테고리이면서 배정가능(Y)한 기사만 목록에 노출. fetch로 처리하며 성공 시 상태가 기사배정으로 변경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6053328" y="2756916"/>
            <a:ext cx="182880" cy="182880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75" name="Text 73"/>
          <p:cNvSpPr/>
          <p:nvPr/>
        </p:nvSpPr>
        <p:spPr>
          <a:xfrm>
            <a:off x="6053328" y="27569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6309360" y="27386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등록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6309360" y="2939796"/>
            <a:ext cx="24688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배정 전에는 비활성. 완료 처리 시 상태가 처리완료로 변경되고 REPAIR_RESULT에 저장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713232" cy="329184"/>
          </a:xfrm>
          <a:prstGeom prst="roundRect">
            <a:avLst>
              <a:gd name="adj" fmla="val 16667"/>
            </a:avLst>
          </a:prstGeom>
          <a:solidFill>
            <a:srgbClr val="E8722C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310896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25296" y="292608"/>
            <a:ext cx="7516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흐름도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1051560"/>
            <a:ext cx="1143000" cy="566928"/>
          </a:xfrm>
          <a:prstGeom prst="roundRect">
            <a:avLst>
              <a:gd name="adj" fmla="val 6452"/>
            </a:avLst>
          </a:prstGeom>
          <a:solidFill>
            <a:srgbClr val="6B7A8C"/>
          </a:solidFill>
          <a:ln w="6350">
            <a:solidFill>
              <a:srgbClr val="6B7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5156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비회원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83080" y="1051560"/>
            <a:ext cx="150876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83080" y="105156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S-01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55848" y="1252728"/>
            <a:ext cx="201168" cy="164592"/>
          </a:xfrm>
          <a:prstGeom prst="rightArrow">
            <a:avLst/>
          </a:prstGeom>
          <a:solidFill>
            <a:srgbClr val="C4CEDA"/>
          </a:solidFill>
          <a:ln/>
        </p:spPr>
      </p:sp>
      <p:sp>
        <p:nvSpPr>
          <p:cNvPr id="10" name="Shape 8"/>
          <p:cNvSpPr/>
          <p:nvPr/>
        </p:nvSpPr>
        <p:spPr>
          <a:xfrm>
            <a:off x="3611880" y="1051560"/>
            <a:ext cx="150876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05156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S-03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84648" y="1252728"/>
            <a:ext cx="201168" cy="164592"/>
          </a:xfrm>
          <a:prstGeom prst="rightArrow">
            <a:avLst/>
          </a:prstGeom>
          <a:solidFill>
            <a:srgbClr val="C4CEDA"/>
          </a:solidFill>
          <a:ln/>
        </p:spPr>
      </p:sp>
      <p:sp>
        <p:nvSpPr>
          <p:cNvPr id="13" name="Shape 11"/>
          <p:cNvSpPr/>
          <p:nvPr/>
        </p:nvSpPr>
        <p:spPr>
          <a:xfrm>
            <a:off x="5440680" y="1051560"/>
            <a:ext cx="150876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105156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회원가입 S-02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013448" y="1252728"/>
            <a:ext cx="201168" cy="164592"/>
          </a:xfrm>
          <a:prstGeom prst="rightArrow">
            <a:avLst/>
          </a:prstGeom>
          <a:solidFill>
            <a:srgbClr val="C4CEDA"/>
          </a:solidFill>
          <a:ln/>
        </p:spPr>
      </p:sp>
      <p:sp>
        <p:nvSpPr>
          <p:cNvPr id="16" name="Shape 14"/>
          <p:cNvSpPr/>
          <p:nvPr/>
        </p:nvSpPr>
        <p:spPr>
          <a:xfrm>
            <a:off x="7269480" y="1051560"/>
            <a:ext cx="150876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9480" y="105156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S-01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1984248"/>
            <a:ext cx="1143000" cy="566928"/>
          </a:xfrm>
          <a:prstGeom prst="roundRect">
            <a:avLst>
              <a:gd name="adj" fmla="val 6452"/>
            </a:avLst>
          </a:prstGeom>
          <a:solidFill>
            <a:srgbClr val="E8722C"/>
          </a:solidFill>
          <a:ln w="6350">
            <a:solidFill>
              <a:srgbClr val="E872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198424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· 접수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783080" y="1984248"/>
            <a:ext cx="150876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83080" y="198424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S-01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55848" y="2185416"/>
            <a:ext cx="201168" cy="164592"/>
          </a:xfrm>
          <a:prstGeom prst="rightArrow">
            <a:avLst/>
          </a:prstGeom>
          <a:solidFill>
            <a:srgbClr val="C4CEDA"/>
          </a:solidFill>
          <a:ln/>
        </p:spPr>
      </p:sp>
      <p:sp>
        <p:nvSpPr>
          <p:cNvPr id="23" name="Shape 21"/>
          <p:cNvSpPr/>
          <p:nvPr/>
        </p:nvSpPr>
        <p:spPr>
          <a:xfrm>
            <a:off x="3611880" y="1984248"/>
            <a:ext cx="150876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80" y="198424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폼 S-05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184648" y="2185416"/>
            <a:ext cx="201168" cy="164592"/>
          </a:xfrm>
          <a:prstGeom prst="rightArrow">
            <a:avLst/>
          </a:prstGeom>
          <a:solidFill>
            <a:srgbClr val="C4CEDA"/>
          </a:solidFill>
          <a:ln/>
        </p:spPr>
      </p:sp>
      <p:sp>
        <p:nvSpPr>
          <p:cNvPr id="26" name="Shape 24"/>
          <p:cNvSpPr/>
          <p:nvPr/>
        </p:nvSpPr>
        <p:spPr>
          <a:xfrm>
            <a:off x="5440680" y="1984248"/>
            <a:ext cx="150876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40680" y="198424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완료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013448" y="2185416"/>
            <a:ext cx="201168" cy="164592"/>
          </a:xfrm>
          <a:prstGeom prst="rightArrow">
            <a:avLst/>
          </a:prstGeom>
          <a:solidFill>
            <a:srgbClr val="C4CEDA"/>
          </a:solidFill>
          <a:ln/>
        </p:spPr>
      </p:sp>
      <p:sp>
        <p:nvSpPr>
          <p:cNvPr id="29" name="Shape 27"/>
          <p:cNvSpPr/>
          <p:nvPr/>
        </p:nvSpPr>
        <p:spPr>
          <a:xfrm>
            <a:off x="7269480" y="1984248"/>
            <a:ext cx="150876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9480" y="198424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내역 S-06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84048" y="2916936"/>
            <a:ext cx="1143000" cy="566928"/>
          </a:xfrm>
          <a:prstGeom prst="roundRect">
            <a:avLst>
              <a:gd name="adj" fmla="val 6452"/>
            </a:avLst>
          </a:prstGeom>
          <a:solidFill>
            <a:srgbClr val="2F80ED"/>
          </a:solidFill>
          <a:ln w="6350">
            <a:solidFill>
              <a:srgbClr val="2F80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2916936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· 조회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783080" y="2916936"/>
            <a:ext cx="150876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83080" y="2916936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내역 S-06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355848" y="3118104"/>
            <a:ext cx="201168" cy="164592"/>
          </a:xfrm>
          <a:prstGeom prst="rightArrow">
            <a:avLst/>
          </a:prstGeom>
          <a:solidFill>
            <a:srgbClr val="C4CEDA"/>
          </a:solidFill>
          <a:ln/>
        </p:spPr>
      </p:sp>
      <p:sp>
        <p:nvSpPr>
          <p:cNvPr id="36" name="Shape 34"/>
          <p:cNvSpPr/>
          <p:nvPr/>
        </p:nvSpPr>
        <p:spPr>
          <a:xfrm>
            <a:off x="3611880" y="2916936"/>
            <a:ext cx="150876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11880" y="2916936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S-07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184648" y="3118104"/>
            <a:ext cx="201168" cy="164592"/>
          </a:xfrm>
          <a:prstGeom prst="rightArrow">
            <a:avLst/>
          </a:prstGeom>
          <a:solidFill>
            <a:srgbClr val="C4CEDA"/>
          </a:solidFill>
          <a:ln/>
        </p:spPr>
      </p:sp>
      <p:sp>
        <p:nvSpPr>
          <p:cNvPr id="39" name="Shape 37"/>
          <p:cNvSpPr/>
          <p:nvPr/>
        </p:nvSpPr>
        <p:spPr>
          <a:xfrm>
            <a:off x="5440680" y="2916936"/>
            <a:ext cx="150876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40680" y="2916936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등록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013448" y="3118104"/>
            <a:ext cx="201168" cy="164592"/>
          </a:xfrm>
          <a:prstGeom prst="rightArrow">
            <a:avLst/>
          </a:prstGeom>
          <a:solidFill>
            <a:srgbClr val="C4CEDA"/>
          </a:solidFill>
          <a:ln/>
        </p:spPr>
      </p:sp>
      <p:sp>
        <p:nvSpPr>
          <p:cNvPr id="42" name="Shape 40"/>
          <p:cNvSpPr/>
          <p:nvPr/>
        </p:nvSpPr>
        <p:spPr>
          <a:xfrm>
            <a:off x="7269480" y="2916936"/>
            <a:ext cx="150876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69480" y="2916936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확인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84048" y="3849624"/>
            <a:ext cx="1143000" cy="566928"/>
          </a:xfrm>
          <a:prstGeom prst="roundRect">
            <a:avLst>
              <a:gd name="adj" fmla="val 6452"/>
            </a:avLst>
          </a:prstGeom>
          <a:solidFill>
            <a:srgbClr val="27374D"/>
          </a:solidFill>
          <a:ln w="6350">
            <a:solidFill>
              <a:srgbClr val="27374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" y="3849624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783080" y="3849624"/>
            <a:ext cx="150876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83080" y="3849624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S-03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355848" y="4050792"/>
            <a:ext cx="201168" cy="164592"/>
          </a:xfrm>
          <a:prstGeom prst="rightArrow">
            <a:avLst/>
          </a:prstGeom>
          <a:solidFill>
            <a:srgbClr val="C4CEDA"/>
          </a:solidFill>
          <a:ln/>
        </p:spPr>
      </p:sp>
      <p:sp>
        <p:nvSpPr>
          <p:cNvPr id="49" name="Shape 47"/>
          <p:cNvSpPr/>
          <p:nvPr/>
        </p:nvSpPr>
        <p:spPr>
          <a:xfrm>
            <a:off x="3611880" y="3849624"/>
            <a:ext cx="150876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11880" y="3849624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관리 S-09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184648" y="4050792"/>
            <a:ext cx="201168" cy="164592"/>
          </a:xfrm>
          <a:prstGeom prst="rightArrow">
            <a:avLst/>
          </a:prstGeom>
          <a:solidFill>
            <a:srgbClr val="C4CEDA"/>
          </a:solidFill>
          <a:ln/>
        </p:spPr>
      </p:sp>
      <p:sp>
        <p:nvSpPr>
          <p:cNvPr id="52" name="Shape 50"/>
          <p:cNvSpPr/>
          <p:nvPr/>
        </p:nvSpPr>
        <p:spPr>
          <a:xfrm>
            <a:off x="5440680" y="3849624"/>
            <a:ext cx="150876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40680" y="3849624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처리 S-10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013448" y="4050792"/>
            <a:ext cx="201168" cy="164592"/>
          </a:xfrm>
          <a:prstGeom prst="rightArrow">
            <a:avLst/>
          </a:prstGeom>
          <a:solidFill>
            <a:srgbClr val="C4CEDA"/>
          </a:solidFill>
          <a:ln/>
        </p:spPr>
      </p:sp>
      <p:sp>
        <p:nvSpPr>
          <p:cNvPr id="55" name="Shape 53"/>
          <p:cNvSpPr/>
          <p:nvPr/>
        </p:nvSpPr>
        <p:spPr>
          <a:xfrm>
            <a:off x="7269480" y="3849624"/>
            <a:ext cx="150876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69480" y="3849624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37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 복귀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84048" y="4572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Figma에서 프레임을 화살표로 연결해 같은 흐름을 만들어두면 발표 때 화면 이동을 그대로 보여줄 수 있습니다.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2026-08-11T04:59:46Z</dcterms:created>
  <dcterms:modified xsi:type="dcterms:W3CDTF">2026-08-11T04:59:46Z</dcterms:modified>
</cp:coreProperties>
</file>